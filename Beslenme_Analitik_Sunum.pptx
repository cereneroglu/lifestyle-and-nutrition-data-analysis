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  <p:sldMasterId id="2147483702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Inter Black" panose="020B0604020202020204" charset="0"/>
      <p:bold r:id="rId15"/>
      <p:boldItalic r:id="rId16"/>
    </p:embeddedFont>
    <p:embeddedFont>
      <p:font typeface="Inter Light" panose="020B0604020202020204" charset="0"/>
      <p:regular r:id="rId17"/>
      <p:bold r:id="rId18"/>
      <p:italic r:id="rId19"/>
      <p:boldItalic r:id="rId20"/>
    </p:embeddedFont>
    <p:embeddedFont>
      <p:font typeface="Inter Medium" panose="020B0604020202020204" charset="0"/>
      <p:regular r:id="rId21"/>
      <p:bold r:id="rId22"/>
      <p:italic r:id="rId23"/>
      <p:boldItalic r:id="rId24"/>
    </p:embeddedFont>
    <p:embeddedFont>
      <p:font typeface="Inter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Ceren\BOOTCAMP\Beslenme_Analitik_Bootcamp_Calismas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Ceren\BOOTCAMP\Beslenme_Analitik_Bootcamp_Calismasi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DATASET!$B$1</c:f>
              <c:strCache>
                <c:ptCount val="1"/>
                <c:pt idx="0">
                  <c:v>Kilo (kg)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DATASET!$A$2:$A$21</c:f>
              <c:numCache>
                <c:formatCode>yyyy\-mm\-dd\ h:mm:ss</c:formatCode>
                <c:ptCount val="20"/>
                <c:pt idx="0">
                  <c:v>46113</c:v>
                </c:pt>
                <c:pt idx="1">
                  <c:v>46114</c:v>
                </c:pt>
                <c:pt idx="2">
                  <c:v>46115</c:v>
                </c:pt>
                <c:pt idx="3">
                  <c:v>46116</c:v>
                </c:pt>
                <c:pt idx="4">
                  <c:v>46117</c:v>
                </c:pt>
                <c:pt idx="5">
                  <c:v>46118</c:v>
                </c:pt>
                <c:pt idx="6">
                  <c:v>46119</c:v>
                </c:pt>
                <c:pt idx="7">
                  <c:v>46120</c:v>
                </c:pt>
                <c:pt idx="8">
                  <c:v>46121</c:v>
                </c:pt>
                <c:pt idx="9">
                  <c:v>46122</c:v>
                </c:pt>
                <c:pt idx="10">
                  <c:v>46123</c:v>
                </c:pt>
                <c:pt idx="11">
                  <c:v>46124</c:v>
                </c:pt>
                <c:pt idx="12">
                  <c:v>46125</c:v>
                </c:pt>
                <c:pt idx="13">
                  <c:v>46126</c:v>
                </c:pt>
                <c:pt idx="14">
                  <c:v>46127</c:v>
                </c:pt>
                <c:pt idx="15">
                  <c:v>46128</c:v>
                </c:pt>
                <c:pt idx="16">
                  <c:v>46129</c:v>
                </c:pt>
                <c:pt idx="17">
                  <c:v>46130</c:v>
                </c:pt>
                <c:pt idx="18">
                  <c:v>46131</c:v>
                </c:pt>
                <c:pt idx="19">
                  <c:v>46132</c:v>
                </c:pt>
              </c:numCache>
            </c:numRef>
          </c:cat>
          <c:val>
            <c:numRef>
              <c:f>DATASET!$B$2:$B$21</c:f>
              <c:numCache>
                <c:formatCode>General</c:formatCode>
                <c:ptCount val="20"/>
                <c:pt idx="0">
                  <c:v>78.5</c:v>
                </c:pt>
                <c:pt idx="1">
                  <c:v>78.400000000000006</c:v>
                </c:pt>
                <c:pt idx="2">
                  <c:v>78.3</c:v>
                </c:pt>
                <c:pt idx="3">
                  <c:v>78.2</c:v>
                </c:pt>
                <c:pt idx="4">
                  <c:v>78</c:v>
                </c:pt>
                <c:pt idx="5">
                  <c:v>77.900000000000006</c:v>
                </c:pt>
                <c:pt idx="6">
                  <c:v>77.8</c:v>
                </c:pt>
                <c:pt idx="7">
                  <c:v>77.900000000000006</c:v>
                </c:pt>
                <c:pt idx="8">
                  <c:v>77.7</c:v>
                </c:pt>
                <c:pt idx="9">
                  <c:v>77.599999999999994</c:v>
                </c:pt>
                <c:pt idx="10">
                  <c:v>77.5</c:v>
                </c:pt>
                <c:pt idx="11">
                  <c:v>77.400000000000006</c:v>
                </c:pt>
                <c:pt idx="12">
                  <c:v>77.3</c:v>
                </c:pt>
                <c:pt idx="13">
                  <c:v>77.2</c:v>
                </c:pt>
                <c:pt idx="14">
                  <c:v>77.099999999999994</c:v>
                </c:pt>
                <c:pt idx="15">
                  <c:v>77</c:v>
                </c:pt>
                <c:pt idx="16">
                  <c:v>76.900000000000006</c:v>
                </c:pt>
                <c:pt idx="17">
                  <c:v>76.8</c:v>
                </c:pt>
                <c:pt idx="18">
                  <c:v>76.7</c:v>
                </c:pt>
                <c:pt idx="19">
                  <c:v>76.599999999999994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99-4BA1-9967-067CDE3E2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4056687"/>
        <c:axId val="1444069167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DATASET!$C$1</c15:sqref>
                        </c15:formulaRef>
                      </c:ext>
                    </c:extLst>
                    <c:strCache>
                      <c:ptCount val="1"/>
                      <c:pt idx="0">
                        <c:v>Kalori Alımı</c:v>
                      </c:pt>
                    </c:strCache>
                  </c:strRef>
                </c:tx>
                <c:spPr>
                  <a:ln w="34925" cap="rnd">
                    <a:solidFill>
                      <a:schemeClr val="accent2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2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2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2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DATASET!$C$2:$C$21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2100</c:v>
                      </c:pt>
                      <c:pt idx="1">
                        <c:v>2050</c:v>
                      </c:pt>
                      <c:pt idx="2">
                        <c:v>2200</c:v>
                      </c:pt>
                      <c:pt idx="3">
                        <c:v>1900</c:v>
                      </c:pt>
                      <c:pt idx="4">
                        <c:v>1800</c:v>
                      </c:pt>
                      <c:pt idx="5">
                        <c:v>1750</c:v>
                      </c:pt>
                      <c:pt idx="6">
                        <c:v>2000</c:v>
                      </c:pt>
                      <c:pt idx="7">
                        <c:v>1950</c:v>
                      </c:pt>
                      <c:pt idx="8">
                        <c:v>1850</c:v>
                      </c:pt>
                      <c:pt idx="9">
                        <c:v>1800</c:v>
                      </c:pt>
                      <c:pt idx="10">
                        <c:v>1750</c:v>
                      </c:pt>
                      <c:pt idx="11">
                        <c:v>1700</c:v>
                      </c:pt>
                      <c:pt idx="12">
                        <c:v>1650</c:v>
                      </c:pt>
                      <c:pt idx="13">
                        <c:v>1800</c:v>
                      </c:pt>
                      <c:pt idx="14">
                        <c:v>1900</c:v>
                      </c:pt>
                      <c:pt idx="15">
                        <c:v>1750</c:v>
                      </c:pt>
                      <c:pt idx="16">
                        <c:v>1700</c:v>
                      </c:pt>
                      <c:pt idx="17">
                        <c:v>1650</c:v>
                      </c:pt>
                      <c:pt idx="18">
                        <c:v>1600</c:v>
                      </c:pt>
                      <c:pt idx="19">
                        <c:v>1700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9E99-4BA1-9967-067CDE3E2101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DATASET!$D$1</c15:sqref>
                        </c15:formulaRef>
                      </c:ext>
                    </c:extLst>
                    <c:strCache>
                      <c:ptCount val="1"/>
                      <c:pt idx="0">
                        <c:v>Protein (g)</c:v>
                      </c:pt>
                    </c:strCache>
                  </c:strRef>
                </c:tx>
                <c:spPr>
                  <a:ln w="34925" cap="rnd">
                    <a:solidFill>
                      <a:schemeClr val="accent3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3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3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3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DATASET!$D$2:$D$21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95</c:v>
                      </c:pt>
                      <c:pt idx="1">
                        <c:v>92</c:v>
                      </c:pt>
                      <c:pt idx="2">
                        <c:v>100</c:v>
                      </c:pt>
                      <c:pt idx="3">
                        <c:v>90</c:v>
                      </c:pt>
                      <c:pt idx="4">
                        <c:v>88</c:v>
                      </c:pt>
                      <c:pt idx="5">
                        <c:v>85</c:v>
                      </c:pt>
                      <c:pt idx="6">
                        <c:v>97</c:v>
                      </c:pt>
                      <c:pt idx="7">
                        <c:v>94</c:v>
                      </c:pt>
                      <c:pt idx="8">
                        <c:v>91</c:v>
                      </c:pt>
                      <c:pt idx="9">
                        <c:v>90</c:v>
                      </c:pt>
                      <c:pt idx="10">
                        <c:v>89</c:v>
                      </c:pt>
                      <c:pt idx="11">
                        <c:v>87</c:v>
                      </c:pt>
                      <c:pt idx="12">
                        <c:v>86</c:v>
                      </c:pt>
                      <c:pt idx="13">
                        <c:v>90</c:v>
                      </c:pt>
                      <c:pt idx="14">
                        <c:v>93</c:v>
                      </c:pt>
                      <c:pt idx="15">
                        <c:v>88</c:v>
                      </c:pt>
                      <c:pt idx="16">
                        <c:v>86</c:v>
                      </c:pt>
                      <c:pt idx="17">
                        <c:v>85</c:v>
                      </c:pt>
                      <c:pt idx="18">
                        <c:v>84</c:v>
                      </c:pt>
                      <c:pt idx="19">
                        <c:v>87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9E99-4BA1-9967-067CDE3E2101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DATASET!$E$1</c15:sqref>
                        </c15:formulaRef>
                      </c:ext>
                    </c:extLst>
                    <c:strCache>
                      <c:ptCount val="1"/>
                      <c:pt idx="0">
                        <c:v>Karbonhidrat (g)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DATASET!$E$2:$E$21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230</c:v>
                      </c:pt>
                      <c:pt idx="1">
                        <c:v>220</c:v>
                      </c:pt>
                      <c:pt idx="2">
                        <c:v>240</c:v>
                      </c:pt>
                      <c:pt idx="3">
                        <c:v>200</c:v>
                      </c:pt>
                      <c:pt idx="4">
                        <c:v>180</c:v>
                      </c:pt>
                      <c:pt idx="5">
                        <c:v>175</c:v>
                      </c:pt>
                      <c:pt idx="6">
                        <c:v>210</c:v>
                      </c:pt>
                      <c:pt idx="7">
                        <c:v>205</c:v>
                      </c:pt>
                      <c:pt idx="8">
                        <c:v>195</c:v>
                      </c:pt>
                      <c:pt idx="9">
                        <c:v>185</c:v>
                      </c:pt>
                      <c:pt idx="10">
                        <c:v>180</c:v>
                      </c:pt>
                      <c:pt idx="11">
                        <c:v>175</c:v>
                      </c:pt>
                      <c:pt idx="12">
                        <c:v>170</c:v>
                      </c:pt>
                      <c:pt idx="13">
                        <c:v>185</c:v>
                      </c:pt>
                      <c:pt idx="14">
                        <c:v>190</c:v>
                      </c:pt>
                      <c:pt idx="15">
                        <c:v>180</c:v>
                      </c:pt>
                      <c:pt idx="16">
                        <c:v>175</c:v>
                      </c:pt>
                      <c:pt idx="17">
                        <c:v>170</c:v>
                      </c:pt>
                      <c:pt idx="18">
                        <c:v>165</c:v>
                      </c:pt>
                      <c:pt idx="19">
                        <c:v>175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9E99-4BA1-9967-067CDE3E2101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DATASET!$F$1</c15:sqref>
                        </c15:formulaRef>
                      </c:ext>
                    </c:extLst>
                    <c:strCache>
                      <c:ptCount val="1"/>
                      <c:pt idx="0">
                        <c:v>Yağ (g)</c:v>
                      </c:pt>
                    </c:strCache>
                  </c:strRef>
                </c:tx>
                <c:spPr>
                  <a:ln w="34925" cap="rnd">
                    <a:solidFill>
                      <a:schemeClr val="accent5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5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5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5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DATASET!$F$2:$F$21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75</c:v>
                      </c:pt>
                      <c:pt idx="1">
                        <c:v>70</c:v>
                      </c:pt>
                      <c:pt idx="2">
                        <c:v>78</c:v>
                      </c:pt>
                      <c:pt idx="3">
                        <c:v>68</c:v>
                      </c:pt>
                      <c:pt idx="4">
                        <c:v>65</c:v>
                      </c:pt>
                      <c:pt idx="5">
                        <c:v>63</c:v>
                      </c:pt>
                      <c:pt idx="6">
                        <c:v>72</c:v>
                      </c:pt>
                      <c:pt idx="7">
                        <c:v>70</c:v>
                      </c:pt>
                      <c:pt idx="8">
                        <c:v>68</c:v>
                      </c:pt>
                      <c:pt idx="9">
                        <c:v>66</c:v>
                      </c:pt>
                      <c:pt idx="10">
                        <c:v>65</c:v>
                      </c:pt>
                      <c:pt idx="11">
                        <c:v>64</c:v>
                      </c:pt>
                      <c:pt idx="12">
                        <c:v>63</c:v>
                      </c:pt>
                      <c:pt idx="13">
                        <c:v>65</c:v>
                      </c:pt>
                      <c:pt idx="14">
                        <c:v>67</c:v>
                      </c:pt>
                      <c:pt idx="15">
                        <c:v>64</c:v>
                      </c:pt>
                      <c:pt idx="16">
                        <c:v>63</c:v>
                      </c:pt>
                      <c:pt idx="17">
                        <c:v>62</c:v>
                      </c:pt>
                      <c:pt idx="18">
                        <c:v>60</c:v>
                      </c:pt>
                      <c:pt idx="19">
                        <c:v>63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E99-4BA1-9967-067CDE3E2101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DATASET!$G$1</c15:sqref>
                        </c15:formulaRef>
                      </c:ext>
                    </c:extLst>
                    <c:strCache>
                      <c:ptCount val="1"/>
                      <c:pt idx="0">
                        <c:v>Adım Sayısı</c:v>
                      </c:pt>
                    </c:strCache>
                  </c:strRef>
                </c:tx>
                <c:spPr>
                  <a:ln w="34925" cap="rnd">
                    <a:solidFill>
                      <a:schemeClr val="accent6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6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6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6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DATASET!$G$2:$G$21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9000</c:v>
                      </c:pt>
                      <c:pt idx="1">
                        <c:v>8500</c:v>
                      </c:pt>
                      <c:pt idx="2">
                        <c:v>10000</c:v>
                      </c:pt>
                      <c:pt idx="3">
                        <c:v>11000</c:v>
                      </c:pt>
                      <c:pt idx="4">
                        <c:v>12000</c:v>
                      </c:pt>
                      <c:pt idx="5">
                        <c:v>13000</c:v>
                      </c:pt>
                      <c:pt idx="6">
                        <c:v>9500</c:v>
                      </c:pt>
                      <c:pt idx="7">
                        <c:v>9800</c:v>
                      </c:pt>
                      <c:pt idx="8">
                        <c:v>10500</c:v>
                      </c:pt>
                      <c:pt idx="9">
                        <c:v>11500</c:v>
                      </c:pt>
                      <c:pt idx="10">
                        <c:v>12000</c:v>
                      </c:pt>
                      <c:pt idx="11">
                        <c:v>12500</c:v>
                      </c:pt>
                      <c:pt idx="12">
                        <c:v>13000</c:v>
                      </c:pt>
                      <c:pt idx="13">
                        <c:v>11000</c:v>
                      </c:pt>
                      <c:pt idx="14">
                        <c:v>10000</c:v>
                      </c:pt>
                      <c:pt idx="15">
                        <c:v>11500</c:v>
                      </c:pt>
                      <c:pt idx="16">
                        <c:v>12000</c:v>
                      </c:pt>
                      <c:pt idx="17">
                        <c:v>12500</c:v>
                      </c:pt>
                      <c:pt idx="18">
                        <c:v>13500</c:v>
                      </c:pt>
                      <c:pt idx="19">
                        <c:v>14000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9E99-4BA1-9967-067CDE3E2101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DATASET!$H$1</c15:sqref>
                        </c15:formulaRef>
                      </c:ext>
                    </c:extLst>
                    <c:strCache>
                      <c:ptCount val="1"/>
                      <c:pt idx="0">
                        <c:v>Su Tüketimi (L)</c:v>
                      </c:pt>
                    </c:strCache>
                  </c:strRef>
                </c:tx>
                <c:spPr>
                  <a:ln w="3492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1">
                            <a:lumMod val="60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1">
                            <a:lumMod val="60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1">
                          <a:lumMod val="60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DATASET!$H$2:$H$21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2.5</c:v>
                      </c:pt>
                      <c:pt idx="1">
                        <c:v>2.2999999999999998</c:v>
                      </c:pt>
                      <c:pt idx="2">
                        <c:v>2.7</c:v>
                      </c:pt>
                      <c:pt idx="3">
                        <c:v>2.8</c:v>
                      </c:pt>
                      <c:pt idx="4">
                        <c:v>3</c:v>
                      </c:pt>
                      <c:pt idx="5">
                        <c:v>3.1</c:v>
                      </c:pt>
                      <c:pt idx="6">
                        <c:v>2.6</c:v>
                      </c:pt>
                      <c:pt idx="7">
                        <c:v>2.7</c:v>
                      </c:pt>
                      <c:pt idx="8">
                        <c:v>2.9</c:v>
                      </c:pt>
                      <c:pt idx="9">
                        <c:v>3</c:v>
                      </c:pt>
                      <c:pt idx="10">
                        <c:v>3.1</c:v>
                      </c:pt>
                      <c:pt idx="11">
                        <c:v>3.2</c:v>
                      </c:pt>
                      <c:pt idx="12">
                        <c:v>3.3</c:v>
                      </c:pt>
                      <c:pt idx="13">
                        <c:v>3</c:v>
                      </c:pt>
                      <c:pt idx="14">
                        <c:v>2.8</c:v>
                      </c:pt>
                      <c:pt idx="15">
                        <c:v>3.1</c:v>
                      </c:pt>
                      <c:pt idx="16">
                        <c:v>3.2</c:v>
                      </c:pt>
                      <c:pt idx="17">
                        <c:v>3.3</c:v>
                      </c:pt>
                      <c:pt idx="18">
                        <c:v>3.4</c:v>
                      </c:pt>
                      <c:pt idx="19">
                        <c:v>3.5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9E99-4BA1-9967-067CDE3E2101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DATASET!$I$1</c15:sqref>
                        </c15:formulaRef>
                      </c:ext>
                    </c:extLst>
                    <c:strCache>
                      <c:ptCount val="1"/>
                      <c:pt idx="0">
                        <c:v>Uyku Süresi (saat)</c:v>
                      </c:pt>
                    </c:strCache>
                  </c:strRef>
                </c:tx>
                <c:spPr>
                  <a:ln w="3492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2">
                          <a:lumMod val="60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DATASET!$I$2:$I$21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7</c:v>
                      </c:pt>
                      <c:pt idx="1">
                        <c:v>7.2</c:v>
                      </c:pt>
                      <c:pt idx="2">
                        <c:v>6.8</c:v>
                      </c:pt>
                      <c:pt idx="3">
                        <c:v>7.5</c:v>
                      </c:pt>
                      <c:pt idx="4">
                        <c:v>7.8</c:v>
                      </c:pt>
                      <c:pt idx="5">
                        <c:v>8</c:v>
                      </c:pt>
                      <c:pt idx="6">
                        <c:v>7.1</c:v>
                      </c:pt>
                      <c:pt idx="7">
                        <c:v>7.3</c:v>
                      </c:pt>
                      <c:pt idx="8">
                        <c:v>7.5</c:v>
                      </c:pt>
                      <c:pt idx="9">
                        <c:v>7.7</c:v>
                      </c:pt>
                      <c:pt idx="10">
                        <c:v>7.8</c:v>
                      </c:pt>
                      <c:pt idx="11">
                        <c:v>8</c:v>
                      </c:pt>
                      <c:pt idx="12">
                        <c:v>8.1</c:v>
                      </c:pt>
                      <c:pt idx="13">
                        <c:v>7.6</c:v>
                      </c:pt>
                      <c:pt idx="14">
                        <c:v>7.4</c:v>
                      </c:pt>
                      <c:pt idx="15">
                        <c:v>7.9</c:v>
                      </c:pt>
                      <c:pt idx="16">
                        <c:v>8</c:v>
                      </c:pt>
                      <c:pt idx="17">
                        <c:v>8.1999999999999993</c:v>
                      </c:pt>
                      <c:pt idx="18">
                        <c:v>8.3000000000000007</c:v>
                      </c:pt>
                      <c:pt idx="19">
                        <c:v>8.1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9E99-4BA1-9967-067CDE3E2101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DATASET!$J$1</c15:sqref>
                        </c15:formulaRef>
                      </c:ext>
                    </c:extLst>
                    <c:strCache>
                      <c:ptCount val="1"/>
                      <c:pt idx="0">
                        <c:v>Gece Yemeği</c:v>
                      </c:pt>
                    </c:strCache>
                  </c:strRef>
                </c:tx>
                <c:spPr>
                  <a:ln w="3492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3">
                            <a:lumMod val="60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3">
                            <a:lumMod val="60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3">
                          <a:lumMod val="60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DATASET!$J$2:$J$21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1</c:v>
                      </c:pt>
                      <c:pt idx="14">
                        <c:v>1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9E99-4BA1-9967-067CDE3E2101}"/>
                  </c:ext>
                </c:extLst>
              </c15:ser>
            </c15:filteredLineSeries>
          </c:ext>
        </c:extLst>
      </c:lineChart>
      <c:dateAx>
        <c:axId val="1444056687"/>
        <c:scaling>
          <c:orientation val="minMax"/>
        </c:scaling>
        <c:delete val="0"/>
        <c:axPos val="b"/>
        <c:numFmt formatCode="yyyy\-mm\-dd\ h:mm:ss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444069167"/>
        <c:crosses val="autoZero"/>
        <c:auto val="1"/>
        <c:lblOffset val="100"/>
        <c:baseTimeUnit val="days"/>
      </c:dateAx>
      <c:valAx>
        <c:axId val="1444069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444056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DATASET!$B$1</c:f>
              <c:strCache>
                <c:ptCount val="1"/>
                <c:pt idx="0">
                  <c:v>Kilo (kg)</c:v>
                </c:pt>
              </c:strCache>
            </c:strRef>
          </c:tx>
          <c:spPr>
            <a:ln w="34925" cap="rnd">
              <a:solidFill>
                <a:schemeClr val="accent4">
                  <a:shade val="44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DATASET!$A$2:$A$21</c:f>
              <c:numCache>
                <c:formatCode>yyyy\-mm\-dd\ h:mm:ss</c:formatCode>
                <c:ptCount val="20"/>
                <c:pt idx="0">
                  <c:v>46113</c:v>
                </c:pt>
                <c:pt idx="1">
                  <c:v>46114</c:v>
                </c:pt>
                <c:pt idx="2">
                  <c:v>46115</c:v>
                </c:pt>
                <c:pt idx="3">
                  <c:v>46116</c:v>
                </c:pt>
                <c:pt idx="4">
                  <c:v>46117</c:v>
                </c:pt>
                <c:pt idx="5">
                  <c:v>46118</c:v>
                </c:pt>
                <c:pt idx="6">
                  <c:v>46119</c:v>
                </c:pt>
                <c:pt idx="7">
                  <c:v>46120</c:v>
                </c:pt>
                <c:pt idx="8">
                  <c:v>46121</c:v>
                </c:pt>
                <c:pt idx="9">
                  <c:v>46122</c:v>
                </c:pt>
                <c:pt idx="10">
                  <c:v>46123</c:v>
                </c:pt>
                <c:pt idx="11">
                  <c:v>46124</c:v>
                </c:pt>
                <c:pt idx="12">
                  <c:v>46125</c:v>
                </c:pt>
                <c:pt idx="13">
                  <c:v>46126</c:v>
                </c:pt>
                <c:pt idx="14">
                  <c:v>46127</c:v>
                </c:pt>
                <c:pt idx="15">
                  <c:v>46128</c:v>
                </c:pt>
                <c:pt idx="16">
                  <c:v>46129</c:v>
                </c:pt>
                <c:pt idx="17">
                  <c:v>46130</c:v>
                </c:pt>
                <c:pt idx="18">
                  <c:v>46131</c:v>
                </c:pt>
                <c:pt idx="19">
                  <c:v>46132</c:v>
                </c:pt>
              </c:numCache>
            </c:numRef>
          </c:cat>
          <c:val>
            <c:numRef>
              <c:f>DATASET!$B$2:$B$21</c:f>
              <c:numCache>
                <c:formatCode>General</c:formatCode>
                <c:ptCount val="20"/>
                <c:pt idx="0">
                  <c:v>78.5</c:v>
                </c:pt>
                <c:pt idx="1">
                  <c:v>78.400000000000006</c:v>
                </c:pt>
                <c:pt idx="2">
                  <c:v>78.3</c:v>
                </c:pt>
                <c:pt idx="3">
                  <c:v>78.2</c:v>
                </c:pt>
                <c:pt idx="4">
                  <c:v>78</c:v>
                </c:pt>
                <c:pt idx="5">
                  <c:v>77.900000000000006</c:v>
                </c:pt>
                <c:pt idx="6">
                  <c:v>77.8</c:v>
                </c:pt>
                <c:pt idx="7">
                  <c:v>77.900000000000006</c:v>
                </c:pt>
                <c:pt idx="8">
                  <c:v>77.7</c:v>
                </c:pt>
                <c:pt idx="9">
                  <c:v>77.599999999999994</c:v>
                </c:pt>
                <c:pt idx="10">
                  <c:v>77.5</c:v>
                </c:pt>
                <c:pt idx="11">
                  <c:v>77.400000000000006</c:v>
                </c:pt>
                <c:pt idx="12">
                  <c:v>77.3</c:v>
                </c:pt>
                <c:pt idx="13">
                  <c:v>77.2</c:v>
                </c:pt>
                <c:pt idx="14">
                  <c:v>77.099999999999994</c:v>
                </c:pt>
                <c:pt idx="15">
                  <c:v>77</c:v>
                </c:pt>
                <c:pt idx="16">
                  <c:v>76.900000000000006</c:v>
                </c:pt>
                <c:pt idx="17">
                  <c:v>76.8</c:v>
                </c:pt>
                <c:pt idx="18">
                  <c:v>76.7</c:v>
                </c:pt>
                <c:pt idx="19">
                  <c:v>76.599999999999994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2D-4634-9008-E8203049060A}"/>
            </c:ext>
          </c:extLst>
        </c:ser>
        <c:ser>
          <c:idx val="1"/>
          <c:order val="1"/>
          <c:tx>
            <c:strRef>
              <c:f>DATASET!$C$1</c:f>
              <c:strCache>
                <c:ptCount val="1"/>
                <c:pt idx="0">
                  <c:v>Kalori Alımı</c:v>
                </c:pt>
              </c:strCache>
            </c:strRef>
          </c:tx>
          <c:spPr>
            <a:ln w="34925" cap="rnd">
              <a:solidFill>
                <a:schemeClr val="accent4">
                  <a:shade val="58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DATASET!$A$2:$A$21</c:f>
              <c:numCache>
                <c:formatCode>yyyy\-mm\-dd\ h:mm:ss</c:formatCode>
                <c:ptCount val="20"/>
                <c:pt idx="0">
                  <c:v>46113</c:v>
                </c:pt>
                <c:pt idx="1">
                  <c:v>46114</c:v>
                </c:pt>
                <c:pt idx="2">
                  <c:v>46115</c:v>
                </c:pt>
                <c:pt idx="3">
                  <c:v>46116</c:v>
                </c:pt>
                <c:pt idx="4">
                  <c:v>46117</c:v>
                </c:pt>
                <c:pt idx="5">
                  <c:v>46118</c:v>
                </c:pt>
                <c:pt idx="6">
                  <c:v>46119</c:v>
                </c:pt>
                <c:pt idx="7">
                  <c:v>46120</c:v>
                </c:pt>
                <c:pt idx="8">
                  <c:v>46121</c:v>
                </c:pt>
                <c:pt idx="9">
                  <c:v>46122</c:v>
                </c:pt>
                <c:pt idx="10">
                  <c:v>46123</c:v>
                </c:pt>
                <c:pt idx="11">
                  <c:v>46124</c:v>
                </c:pt>
                <c:pt idx="12">
                  <c:v>46125</c:v>
                </c:pt>
                <c:pt idx="13">
                  <c:v>46126</c:v>
                </c:pt>
                <c:pt idx="14">
                  <c:v>46127</c:v>
                </c:pt>
                <c:pt idx="15">
                  <c:v>46128</c:v>
                </c:pt>
                <c:pt idx="16">
                  <c:v>46129</c:v>
                </c:pt>
                <c:pt idx="17">
                  <c:v>46130</c:v>
                </c:pt>
                <c:pt idx="18">
                  <c:v>46131</c:v>
                </c:pt>
                <c:pt idx="19">
                  <c:v>46132</c:v>
                </c:pt>
              </c:numCache>
            </c:numRef>
          </c:cat>
          <c:val>
            <c:numRef>
              <c:f>DATASET!$C$2:$C$21</c:f>
              <c:numCache>
                <c:formatCode>General</c:formatCode>
                <c:ptCount val="20"/>
                <c:pt idx="0">
                  <c:v>2100</c:v>
                </c:pt>
                <c:pt idx="1">
                  <c:v>2050</c:v>
                </c:pt>
                <c:pt idx="2">
                  <c:v>2200</c:v>
                </c:pt>
                <c:pt idx="3">
                  <c:v>1900</c:v>
                </c:pt>
                <c:pt idx="4">
                  <c:v>1800</c:v>
                </c:pt>
                <c:pt idx="5">
                  <c:v>1750</c:v>
                </c:pt>
                <c:pt idx="6">
                  <c:v>2000</c:v>
                </c:pt>
                <c:pt idx="7">
                  <c:v>1950</c:v>
                </c:pt>
                <c:pt idx="8">
                  <c:v>1850</c:v>
                </c:pt>
                <c:pt idx="9">
                  <c:v>1800</c:v>
                </c:pt>
                <c:pt idx="10">
                  <c:v>1750</c:v>
                </c:pt>
                <c:pt idx="11">
                  <c:v>1700</c:v>
                </c:pt>
                <c:pt idx="12">
                  <c:v>1650</c:v>
                </c:pt>
                <c:pt idx="13">
                  <c:v>1800</c:v>
                </c:pt>
                <c:pt idx="14">
                  <c:v>1900</c:v>
                </c:pt>
                <c:pt idx="15">
                  <c:v>1750</c:v>
                </c:pt>
                <c:pt idx="16">
                  <c:v>1700</c:v>
                </c:pt>
                <c:pt idx="17">
                  <c:v>1650</c:v>
                </c:pt>
                <c:pt idx="18">
                  <c:v>1600</c:v>
                </c:pt>
                <c:pt idx="19">
                  <c:v>1700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2D-4634-9008-E8203049060A}"/>
            </c:ext>
          </c:extLst>
        </c:ser>
        <c:ser>
          <c:idx val="5"/>
          <c:order val="5"/>
          <c:tx>
            <c:strRef>
              <c:f>DATASET!$G$1</c:f>
              <c:strCache>
                <c:ptCount val="1"/>
                <c:pt idx="0">
                  <c:v>Adım Sayısı</c:v>
                </c:pt>
              </c:strCache>
            </c:strRef>
          </c:tx>
          <c:spPr>
            <a:ln w="34925" cap="rnd">
              <a:solidFill>
                <a:schemeClr val="accent4">
                  <a:tint val="86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DATASET!$A$2:$A$21</c:f>
              <c:numCache>
                <c:formatCode>yyyy\-mm\-dd\ h:mm:ss</c:formatCode>
                <c:ptCount val="20"/>
                <c:pt idx="0">
                  <c:v>46113</c:v>
                </c:pt>
                <c:pt idx="1">
                  <c:v>46114</c:v>
                </c:pt>
                <c:pt idx="2">
                  <c:v>46115</c:v>
                </c:pt>
                <c:pt idx="3">
                  <c:v>46116</c:v>
                </c:pt>
                <c:pt idx="4">
                  <c:v>46117</c:v>
                </c:pt>
                <c:pt idx="5">
                  <c:v>46118</c:v>
                </c:pt>
                <c:pt idx="6">
                  <c:v>46119</c:v>
                </c:pt>
                <c:pt idx="7">
                  <c:v>46120</c:v>
                </c:pt>
                <c:pt idx="8">
                  <c:v>46121</c:v>
                </c:pt>
                <c:pt idx="9">
                  <c:v>46122</c:v>
                </c:pt>
                <c:pt idx="10">
                  <c:v>46123</c:v>
                </c:pt>
                <c:pt idx="11">
                  <c:v>46124</c:v>
                </c:pt>
                <c:pt idx="12">
                  <c:v>46125</c:v>
                </c:pt>
                <c:pt idx="13">
                  <c:v>46126</c:v>
                </c:pt>
                <c:pt idx="14">
                  <c:v>46127</c:v>
                </c:pt>
                <c:pt idx="15">
                  <c:v>46128</c:v>
                </c:pt>
                <c:pt idx="16">
                  <c:v>46129</c:v>
                </c:pt>
                <c:pt idx="17">
                  <c:v>46130</c:v>
                </c:pt>
                <c:pt idx="18">
                  <c:v>46131</c:v>
                </c:pt>
                <c:pt idx="19">
                  <c:v>46132</c:v>
                </c:pt>
              </c:numCache>
            </c:numRef>
          </c:cat>
          <c:val>
            <c:numRef>
              <c:f>DATASET!$G$2:$G$21</c:f>
              <c:numCache>
                <c:formatCode>General</c:formatCode>
                <c:ptCount val="20"/>
                <c:pt idx="0">
                  <c:v>9000</c:v>
                </c:pt>
                <c:pt idx="1">
                  <c:v>8500</c:v>
                </c:pt>
                <c:pt idx="2">
                  <c:v>10000</c:v>
                </c:pt>
                <c:pt idx="3">
                  <c:v>11000</c:v>
                </c:pt>
                <c:pt idx="4">
                  <c:v>12000</c:v>
                </c:pt>
                <c:pt idx="5">
                  <c:v>13000</c:v>
                </c:pt>
                <c:pt idx="6">
                  <c:v>9500</c:v>
                </c:pt>
                <c:pt idx="7">
                  <c:v>9800</c:v>
                </c:pt>
                <c:pt idx="8">
                  <c:v>10500</c:v>
                </c:pt>
                <c:pt idx="9">
                  <c:v>11500</c:v>
                </c:pt>
                <c:pt idx="10">
                  <c:v>12000</c:v>
                </c:pt>
                <c:pt idx="11">
                  <c:v>12500</c:v>
                </c:pt>
                <c:pt idx="12">
                  <c:v>13000</c:v>
                </c:pt>
                <c:pt idx="13">
                  <c:v>11000</c:v>
                </c:pt>
                <c:pt idx="14">
                  <c:v>10000</c:v>
                </c:pt>
                <c:pt idx="15">
                  <c:v>11500</c:v>
                </c:pt>
                <c:pt idx="16">
                  <c:v>12000</c:v>
                </c:pt>
                <c:pt idx="17">
                  <c:v>12500</c:v>
                </c:pt>
                <c:pt idx="18">
                  <c:v>13500</c:v>
                </c:pt>
                <c:pt idx="19">
                  <c:v>14000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2D-4634-9008-E82030490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4056687"/>
        <c:axId val="1444069167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DATASET!$D$1</c15:sqref>
                        </c15:formulaRef>
                      </c:ext>
                    </c:extLst>
                    <c:strCache>
                      <c:ptCount val="1"/>
                      <c:pt idx="0">
                        <c:v>Protein (g)</c:v>
                      </c:pt>
                    </c:strCache>
                  </c:strRef>
                </c:tx>
                <c:spPr>
                  <a:ln w="34925" cap="rnd">
                    <a:solidFill>
                      <a:schemeClr val="accent4">
                        <a:shade val="72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shade val="72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shade val="72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>
                          <a:shade val="72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DATASET!$D$2:$D$21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95</c:v>
                      </c:pt>
                      <c:pt idx="1">
                        <c:v>92</c:v>
                      </c:pt>
                      <c:pt idx="2">
                        <c:v>100</c:v>
                      </c:pt>
                      <c:pt idx="3">
                        <c:v>90</c:v>
                      </c:pt>
                      <c:pt idx="4">
                        <c:v>88</c:v>
                      </c:pt>
                      <c:pt idx="5">
                        <c:v>85</c:v>
                      </c:pt>
                      <c:pt idx="6">
                        <c:v>97</c:v>
                      </c:pt>
                      <c:pt idx="7">
                        <c:v>94</c:v>
                      </c:pt>
                      <c:pt idx="8">
                        <c:v>91</c:v>
                      </c:pt>
                      <c:pt idx="9">
                        <c:v>90</c:v>
                      </c:pt>
                      <c:pt idx="10">
                        <c:v>89</c:v>
                      </c:pt>
                      <c:pt idx="11">
                        <c:v>87</c:v>
                      </c:pt>
                      <c:pt idx="12">
                        <c:v>86</c:v>
                      </c:pt>
                      <c:pt idx="13">
                        <c:v>90</c:v>
                      </c:pt>
                      <c:pt idx="14">
                        <c:v>93</c:v>
                      </c:pt>
                      <c:pt idx="15">
                        <c:v>88</c:v>
                      </c:pt>
                      <c:pt idx="16">
                        <c:v>86</c:v>
                      </c:pt>
                      <c:pt idx="17">
                        <c:v>85</c:v>
                      </c:pt>
                      <c:pt idx="18">
                        <c:v>84</c:v>
                      </c:pt>
                      <c:pt idx="19">
                        <c:v>87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0A2D-4634-9008-E8203049060A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DATASET!$E$1</c15:sqref>
                        </c15:formulaRef>
                      </c:ext>
                    </c:extLst>
                    <c:strCache>
                      <c:ptCount val="1"/>
                      <c:pt idx="0">
                        <c:v>Karbonhidrat (g)</c:v>
                      </c:pt>
                    </c:strCache>
                  </c:strRef>
                </c:tx>
                <c:spPr>
                  <a:ln w="34925" cap="rnd">
                    <a:solidFill>
                      <a:schemeClr val="accent4">
                        <a:shade val="86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shade val="86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shade val="86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>
                          <a:shade val="86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DATASET!$E$2:$E$21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230</c:v>
                      </c:pt>
                      <c:pt idx="1">
                        <c:v>220</c:v>
                      </c:pt>
                      <c:pt idx="2">
                        <c:v>240</c:v>
                      </c:pt>
                      <c:pt idx="3">
                        <c:v>200</c:v>
                      </c:pt>
                      <c:pt idx="4">
                        <c:v>180</c:v>
                      </c:pt>
                      <c:pt idx="5">
                        <c:v>175</c:v>
                      </c:pt>
                      <c:pt idx="6">
                        <c:v>210</c:v>
                      </c:pt>
                      <c:pt idx="7">
                        <c:v>205</c:v>
                      </c:pt>
                      <c:pt idx="8">
                        <c:v>195</c:v>
                      </c:pt>
                      <c:pt idx="9">
                        <c:v>185</c:v>
                      </c:pt>
                      <c:pt idx="10">
                        <c:v>180</c:v>
                      </c:pt>
                      <c:pt idx="11">
                        <c:v>175</c:v>
                      </c:pt>
                      <c:pt idx="12">
                        <c:v>170</c:v>
                      </c:pt>
                      <c:pt idx="13">
                        <c:v>185</c:v>
                      </c:pt>
                      <c:pt idx="14">
                        <c:v>190</c:v>
                      </c:pt>
                      <c:pt idx="15">
                        <c:v>180</c:v>
                      </c:pt>
                      <c:pt idx="16">
                        <c:v>175</c:v>
                      </c:pt>
                      <c:pt idx="17">
                        <c:v>170</c:v>
                      </c:pt>
                      <c:pt idx="18">
                        <c:v>165</c:v>
                      </c:pt>
                      <c:pt idx="19">
                        <c:v>175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0A2D-4634-9008-E8203049060A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DATASET!$F$1</c15:sqref>
                        </c15:formulaRef>
                      </c:ext>
                    </c:extLst>
                    <c:strCache>
                      <c:ptCount val="1"/>
                      <c:pt idx="0">
                        <c:v>Yağ (g)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/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DATASET!$F$2:$F$21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75</c:v>
                      </c:pt>
                      <c:pt idx="1">
                        <c:v>70</c:v>
                      </c:pt>
                      <c:pt idx="2">
                        <c:v>78</c:v>
                      </c:pt>
                      <c:pt idx="3">
                        <c:v>68</c:v>
                      </c:pt>
                      <c:pt idx="4">
                        <c:v>65</c:v>
                      </c:pt>
                      <c:pt idx="5">
                        <c:v>63</c:v>
                      </c:pt>
                      <c:pt idx="6">
                        <c:v>72</c:v>
                      </c:pt>
                      <c:pt idx="7">
                        <c:v>70</c:v>
                      </c:pt>
                      <c:pt idx="8">
                        <c:v>68</c:v>
                      </c:pt>
                      <c:pt idx="9">
                        <c:v>66</c:v>
                      </c:pt>
                      <c:pt idx="10">
                        <c:v>65</c:v>
                      </c:pt>
                      <c:pt idx="11">
                        <c:v>64</c:v>
                      </c:pt>
                      <c:pt idx="12">
                        <c:v>63</c:v>
                      </c:pt>
                      <c:pt idx="13">
                        <c:v>65</c:v>
                      </c:pt>
                      <c:pt idx="14">
                        <c:v>67</c:v>
                      </c:pt>
                      <c:pt idx="15">
                        <c:v>64</c:v>
                      </c:pt>
                      <c:pt idx="16">
                        <c:v>63</c:v>
                      </c:pt>
                      <c:pt idx="17">
                        <c:v>62</c:v>
                      </c:pt>
                      <c:pt idx="18">
                        <c:v>60</c:v>
                      </c:pt>
                      <c:pt idx="19">
                        <c:v>63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0A2D-4634-9008-E8203049060A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DATASET!$H$1</c15:sqref>
                        </c15:formulaRef>
                      </c:ext>
                    </c:extLst>
                    <c:strCache>
                      <c:ptCount val="1"/>
                      <c:pt idx="0">
                        <c:v>Su Tüketimi (L)</c:v>
                      </c:pt>
                    </c:strCache>
                  </c:strRef>
                </c:tx>
                <c:spPr>
                  <a:ln w="34925" cap="rnd">
                    <a:solidFill>
                      <a:schemeClr val="accent4">
                        <a:tint val="72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tint val="72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tint val="72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>
                          <a:tint val="72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DATASET!$H$2:$H$21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2.5</c:v>
                      </c:pt>
                      <c:pt idx="1">
                        <c:v>2.2999999999999998</c:v>
                      </c:pt>
                      <c:pt idx="2">
                        <c:v>2.7</c:v>
                      </c:pt>
                      <c:pt idx="3">
                        <c:v>2.8</c:v>
                      </c:pt>
                      <c:pt idx="4">
                        <c:v>3</c:v>
                      </c:pt>
                      <c:pt idx="5">
                        <c:v>3.1</c:v>
                      </c:pt>
                      <c:pt idx="6">
                        <c:v>2.6</c:v>
                      </c:pt>
                      <c:pt idx="7">
                        <c:v>2.7</c:v>
                      </c:pt>
                      <c:pt idx="8">
                        <c:v>2.9</c:v>
                      </c:pt>
                      <c:pt idx="9">
                        <c:v>3</c:v>
                      </c:pt>
                      <c:pt idx="10">
                        <c:v>3.1</c:v>
                      </c:pt>
                      <c:pt idx="11">
                        <c:v>3.2</c:v>
                      </c:pt>
                      <c:pt idx="12">
                        <c:v>3.3</c:v>
                      </c:pt>
                      <c:pt idx="13">
                        <c:v>3</c:v>
                      </c:pt>
                      <c:pt idx="14">
                        <c:v>2.8</c:v>
                      </c:pt>
                      <c:pt idx="15">
                        <c:v>3.1</c:v>
                      </c:pt>
                      <c:pt idx="16">
                        <c:v>3.2</c:v>
                      </c:pt>
                      <c:pt idx="17">
                        <c:v>3.3</c:v>
                      </c:pt>
                      <c:pt idx="18">
                        <c:v>3.4</c:v>
                      </c:pt>
                      <c:pt idx="19">
                        <c:v>3.5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6-0A2D-4634-9008-E8203049060A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DATASET!$I$1</c15:sqref>
                        </c15:formulaRef>
                      </c:ext>
                    </c:extLst>
                    <c:strCache>
                      <c:ptCount val="1"/>
                      <c:pt idx="0">
                        <c:v>Uyku Süresi (saat)</c:v>
                      </c:pt>
                    </c:strCache>
                  </c:strRef>
                </c:tx>
                <c:spPr>
                  <a:ln w="34925" cap="rnd">
                    <a:solidFill>
                      <a:schemeClr val="accent4">
                        <a:tint val="58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tint val="58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tint val="58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>
                          <a:tint val="58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DATASET!$I$2:$I$21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7</c:v>
                      </c:pt>
                      <c:pt idx="1">
                        <c:v>7.2</c:v>
                      </c:pt>
                      <c:pt idx="2">
                        <c:v>6.8</c:v>
                      </c:pt>
                      <c:pt idx="3">
                        <c:v>7.5</c:v>
                      </c:pt>
                      <c:pt idx="4">
                        <c:v>7.8</c:v>
                      </c:pt>
                      <c:pt idx="5">
                        <c:v>8</c:v>
                      </c:pt>
                      <c:pt idx="6">
                        <c:v>7.1</c:v>
                      </c:pt>
                      <c:pt idx="7">
                        <c:v>7.3</c:v>
                      </c:pt>
                      <c:pt idx="8">
                        <c:v>7.5</c:v>
                      </c:pt>
                      <c:pt idx="9">
                        <c:v>7.7</c:v>
                      </c:pt>
                      <c:pt idx="10">
                        <c:v>7.8</c:v>
                      </c:pt>
                      <c:pt idx="11">
                        <c:v>8</c:v>
                      </c:pt>
                      <c:pt idx="12">
                        <c:v>8.1</c:v>
                      </c:pt>
                      <c:pt idx="13">
                        <c:v>7.6</c:v>
                      </c:pt>
                      <c:pt idx="14">
                        <c:v>7.4</c:v>
                      </c:pt>
                      <c:pt idx="15">
                        <c:v>7.9</c:v>
                      </c:pt>
                      <c:pt idx="16">
                        <c:v>8</c:v>
                      </c:pt>
                      <c:pt idx="17">
                        <c:v>8.1999999999999993</c:v>
                      </c:pt>
                      <c:pt idx="18">
                        <c:v>8.3000000000000007</c:v>
                      </c:pt>
                      <c:pt idx="19">
                        <c:v>8.1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7-0A2D-4634-9008-E8203049060A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DATASET!$J$1</c15:sqref>
                        </c15:formulaRef>
                      </c:ext>
                    </c:extLst>
                    <c:strCache>
                      <c:ptCount val="1"/>
                      <c:pt idx="0">
                        <c:v>Gece Yemeği</c:v>
                      </c:pt>
                    </c:strCache>
                  </c:strRef>
                </c:tx>
                <c:spPr>
                  <a:ln w="34925" cap="rnd">
                    <a:solidFill>
                      <a:schemeClr val="accent4">
                        <a:tint val="44000"/>
                      </a:schemeClr>
                    </a:solidFill>
                    <a:round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c:spPr>
                <c:marker>
                  <c:symbol val="circle"/>
                  <c:size val="6"/>
                  <c:spPr>
                    <a:gradFill rotWithShape="1">
                      <a:gsLst>
                        <a:gs pos="0">
                          <a:schemeClr val="accent4">
                            <a:tint val="44000"/>
                            <a:tint val="100000"/>
                            <a:shade val="100000"/>
                            <a:satMod val="130000"/>
                          </a:schemeClr>
                        </a:gs>
                        <a:gs pos="100000">
                          <a:schemeClr val="accent4">
                            <a:tint val="44000"/>
                            <a:tint val="50000"/>
                            <a:shade val="100000"/>
                            <a:satMod val="350000"/>
                          </a:schemeClr>
                        </a:gs>
                      </a:gsLst>
                      <a:lin ang="16200000" scaled="0"/>
                    </a:gradFill>
                    <a:ln w="9525">
                      <a:solidFill>
                        <a:schemeClr val="accent4">
                          <a:tint val="44000"/>
                        </a:schemeClr>
                      </a:solidFill>
                      <a:round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>
                        <a:rot lat="0" lon="0" rev="1200000"/>
                      </a:lightRig>
                    </a:scene3d>
                    <a:sp3d>
                      <a:bevelT w="63500" h="25400"/>
                    </a:sp3d>
                  </c:spPr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DATASET!$A$2:$A$21</c15:sqref>
                        </c15:formulaRef>
                      </c:ext>
                    </c:extLst>
                    <c:numCache>
                      <c:formatCode>yyyy\-mm\-dd\ h:mm:ss</c:formatCode>
                      <c:ptCount val="20"/>
                      <c:pt idx="0">
                        <c:v>46113</c:v>
                      </c:pt>
                      <c:pt idx="1">
                        <c:v>46114</c:v>
                      </c:pt>
                      <c:pt idx="2">
                        <c:v>46115</c:v>
                      </c:pt>
                      <c:pt idx="3">
                        <c:v>46116</c:v>
                      </c:pt>
                      <c:pt idx="4">
                        <c:v>46117</c:v>
                      </c:pt>
                      <c:pt idx="5">
                        <c:v>46118</c:v>
                      </c:pt>
                      <c:pt idx="6">
                        <c:v>46119</c:v>
                      </c:pt>
                      <c:pt idx="7">
                        <c:v>46120</c:v>
                      </c:pt>
                      <c:pt idx="8">
                        <c:v>46121</c:v>
                      </c:pt>
                      <c:pt idx="9">
                        <c:v>46122</c:v>
                      </c:pt>
                      <c:pt idx="10">
                        <c:v>46123</c:v>
                      </c:pt>
                      <c:pt idx="11">
                        <c:v>46124</c:v>
                      </c:pt>
                      <c:pt idx="12">
                        <c:v>46125</c:v>
                      </c:pt>
                      <c:pt idx="13">
                        <c:v>46126</c:v>
                      </c:pt>
                      <c:pt idx="14">
                        <c:v>46127</c:v>
                      </c:pt>
                      <c:pt idx="15">
                        <c:v>46128</c:v>
                      </c:pt>
                      <c:pt idx="16">
                        <c:v>46129</c:v>
                      </c:pt>
                      <c:pt idx="17">
                        <c:v>46130</c:v>
                      </c:pt>
                      <c:pt idx="18">
                        <c:v>46131</c:v>
                      </c:pt>
                      <c:pt idx="19">
                        <c:v>46132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DATASET!$J$2:$J$21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1</c:v>
                      </c:pt>
                      <c:pt idx="7">
                        <c:v>1</c:v>
                      </c:pt>
                      <c:pt idx="8">
                        <c:v>0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0</c:v>
                      </c:pt>
                      <c:pt idx="12">
                        <c:v>0</c:v>
                      </c:pt>
                      <c:pt idx="13">
                        <c:v>1</c:v>
                      </c:pt>
                      <c:pt idx="14">
                        <c:v>1</c:v>
                      </c:pt>
                      <c:pt idx="15">
                        <c:v>0</c:v>
                      </c:pt>
                      <c:pt idx="16">
                        <c:v>0</c:v>
                      </c:pt>
                      <c:pt idx="17">
                        <c:v>0</c:v>
                      </c:pt>
                      <c:pt idx="18">
                        <c:v>0</c:v>
                      </c:pt>
                      <c:pt idx="19">
                        <c:v>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8-0A2D-4634-9008-E8203049060A}"/>
                  </c:ext>
                </c:extLst>
              </c15:ser>
            </c15:filteredLineSeries>
          </c:ext>
        </c:extLst>
      </c:lineChart>
      <c:dateAx>
        <c:axId val="1444056687"/>
        <c:scaling>
          <c:orientation val="minMax"/>
        </c:scaling>
        <c:delete val="0"/>
        <c:axPos val="b"/>
        <c:numFmt formatCode="yyyy\-mm\-dd\ h:mm:ss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444069167"/>
        <c:crosses val="autoZero"/>
        <c:auto val="1"/>
        <c:lblOffset val="100"/>
        <c:baseTimeUnit val="days"/>
      </c:dateAx>
      <c:valAx>
        <c:axId val="1444069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tr-TR"/>
          </a:p>
        </c:txPr>
        <c:crossAx val="1444056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r-T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tr-T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88c155d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88c155d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88c155d9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d88c155d9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8c155d9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88c155d9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88c155d91_0_9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88c155d91_0_9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88c155d91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88c155d91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88c155d91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88c155d91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>
          <a:extLst>
            <a:ext uri="{FF2B5EF4-FFF2-40B4-BE49-F238E27FC236}">
              <a16:creationId xmlns:a16="http://schemas.microsoft.com/office/drawing/2014/main" id="{600071E5-7B07-BA80-2B11-A731A27A3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88c155d91_0_326:notes">
            <a:extLst>
              <a:ext uri="{FF2B5EF4-FFF2-40B4-BE49-F238E27FC236}">
                <a16:creationId xmlns:a16="http://schemas.microsoft.com/office/drawing/2014/main" id="{6054BF81-6744-1684-2BDC-B75C0C14A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88c155d91_0_326:notes">
            <a:extLst>
              <a:ext uri="{FF2B5EF4-FFF2-40B4-BE49-F238E27FC236}">
                <a16:creationId xmlns:a16="http://schemas.microsoft.com/office/drawing/2014/main" id="{16151ADC-FB51-42E1-4852-1CF788849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117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BLANK_1"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rgbClr val="FFF3D2"/>
              </a:gs>
              <a:gs pos="100000">
                <a:srgbClr val="FAD15C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4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14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4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272350" y="4377150"/>
            <a:ext cx="18129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7046325" y="4377150"/>
            <a:ext cx="18129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3"/>
          </p:nvPr>
        </p:nvSpPr>
        <p:spPr>
          <a:xfrm>
            <a:off x="3078275" y="4377150"/>
            <a:ext cx="2874000" cy="1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4"/>
          </p:nvPr>
        </p:nvSpPr>
        <p:spPr>
          <a:xfrm>
            <a:off x="7046325" y="244300"/>
            <a:ext cx="1812900" cy="11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Inter Light"/>
              <a:buNone/>
              <a:defRPr sz="26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2">
  <p:cSld name="BLANK_1_1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5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15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5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72350" y="213150"/>
            <a:ext cx="6493800" cy="3382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272350" y="3551131"/>
            <a:ext cx="4404300" cy="452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Team 1">
  <p:cSld name="CUSTOM_1_1_1">
    <p:bg>
      <p:bgPr>
        <a:gradFill>
          <a:gsLst>
            <a:gs pos="0">
              <a:schemeClr val="accent1"/>
            </a:gs>
            <a:gs pos="72000">
              <a:schemeClr val="lt1"/>
            </a:gs>
            <a:gs pos="100000">
              <a:schemeClr val="dk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>
            <a:spLocks noGrp="1"/>
          </p:cNvSpPr>
          <p:nvPr>
            <p:ph type="pic" idx="2"/>
          </p:nvPr>
        </p:nvSpPr>
        <p:spPr>
          <a:xfrm>
            <a:off x="294150" y="1381775"/>
            <a:ext cx="1258200" cy="17979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>
            <a:spLocks noGrp="1"/>
          </p:cNvSpPr>
          <p:nvPr>
            <p:ph type="pic" idx="3"/>
          </p:nvPr>
        </p:nvSpPr>
        <p:spPr>
          <a:xfrm>
            <a:off x="3650100" y="1381775"/>
            <a:ext cx="1258200" cy="1381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>
            <a:spLocks noGrp="1"/>
          </p:cNvSpPr>
          <p:nvPr>
            <p:ph type="pic" idx="4"/>
          </p:nvPr>
        </p:nvSpPr>
        <p:spPr>
          <a:xfrm>
            <a:off x="1750675" y="2340900"/>
            <a:ext cx="14574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6"/>
          <p:cNvSpPr>
            <a:spLocks noGrp="1"/>
          </p:cNvSpPr>
          <p:nvPr>
            <p:ph type="pic" idx="5"/>
          </p:nvPr>
        </p:nvSpPr>
        <p:spPr>
          <a:xfrm>
            <a:off x="5242450" y="2340900"/>
            <a:ext cx="17799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6"/>
          <p:cNvSpPr>
            <a:spLocks noGrp="1"/>
          </p:cNvSpPr>
          <p:nvPr>
            <p:ph type="pic" idx="6"/>
          </p:nvPr>
        </p:nvSpPr>
        <p:spPr>
          <a:xfrm>
            <a:off x="7371800" y="1740600"/>
            <a:ext cx="1258200" cy="18681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284400" y="257451"/>
            <a:ext cx="8578800" cy="9102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294150" y="3363724"/>
            <a:ext cx="1727100" cy="1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7"/>
          </p:nvPr>
        </p:nvSpPr>
        <p:spPr>
          <a:xfrm>
            <a:off x="277450" y="3579300"/>
            <a:ext cx="1258200" cy="7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8"/>
          </p:nvPr>
        </p:nvSpPr>
        <p:spPr>
          <a:xfrm>
            <a:off x="1764575" y="3798149"/>
            <a:ext cx="1727100" cy="1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9"/>
          </p:nvPr>
        </p:nvSpPr>
        <p:spPr>
          <a:xfrm>
            <a:off x="1747875" y="4013725"/>
            <a:ext cx="1258200" cy="7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13"/>
          </p:nvPr>
        </p:nvSpPr>
        <p:spPr>
          <a:xfrm>
            <a:off x="3657350" y="2946171"/>
            <a:ext cx="1727100" cy="1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4"/>
          </p:nvPr>
        </p:nvSpPr>
        <p:spPr>
          <a:xfrm>
            <a:off x="3640650" y="3161747"/>
            <a:ext cx="1258200" cy="7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5"/>
          </p:nvPr>
        </p:nvSpPr>
        <p:spPr>
          <a:xfrm>
            <a:off x="5259150" y="3798146"/>
            <a:ext cx="1727100" cy="1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16"/>
          </p:nvPr>
        </p:nvSpPr>
        <p:spPr>
          <a:xfrm>
            <a:off x="5242450" y="4013722"/>
            <a:ext cx="1258200" cy="7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7"/>
          </p:nvPr>
        </p:nvSpPr>
        <p:spPr>
          <a:xfrm>
            <a:off x="7388500" y="3798146"/>
            <a:ext cx="1727100" cy="1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8"/>
          </p:nvPr>
        </p:nvSpPr>
        <p:spPr>
          <a:xfrm>
            <a:off x="7371800" y="4013722"/>
            <a:ext cx="1258200" cy="7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 - One line title">
  <p:cSld name="CUSTOM_4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1">
  <p:cSld name="BLANK_1_1_1_1_1_1_1_1_1_1_1_1_1_1_2">
    <p:bg>
      <p:bgPr>
        <a:solidFill>
          <a:schemeClr val="dk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2175" y="-25"/>
            <a:ext cx="91440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2"/>
          </p:nvPr>
        </p:nvSpPr>
        <p:spPr>
          <a:xfrm>
            <a:off x="284400" y="16921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3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4"/>
          </p:nvPr>
        </p:nvSpPr>
        <p:spPr>
          <a:xfrm>
            <a:off x="3356100" y="16921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5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6"/>
          </p:nvPr>
        </p:nvSpPr>
        <p:spPr>
          <a:xfrm>
            <a:off x="6413584" y="16921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 - Two lines title">
  <p:cSld name="CUSTOM_4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84400" y="348369"/>
            <a:ext cx="6418200" cy="910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 - One line title ">
  <p:cSld name="CUSTOM_4_1_1">
    <p:bg>
      <p:bgPr>
        <a:solidFill>
          <a:schemeClr val="dk2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Speakers">
  <p:cSld name="CUSTOM_4_1_1_1_1_2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/>
          <p:nvPr/>
        </p:nvSpPr>
        <p:spPr>
          <a:xfrm>
            <a:off x="6900" y="0"/>
            <a:ext cx="9137100" cy="35232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0" y="2102300"/>
            <a:ext cx="9144000" cy="30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1"/>
          <p:cNvSpPr>
            <a:spLocks noGrp="1"/>
          </p:cNvSpPr>
          <p:nvPr>
            <p:ph type="pic" idx="2"/>
          </p:nvPr>
        </p:nvSpPr>
        <p:spPr>
          <a:xfrm>
            <a:off x="174573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>
            <a:spLocks noGrp="1"/>
          </p:cNvSpPr>
          <p:nvPr>
            <p:ph type="pic" idx="3"/>
          </p:nvPr>
        </p:nvSpPr>
        <p:spPr>
          <a:xfrm>
            <a:off x="321408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>
            <a:spLocks noGrp="1"/>
          </p:cNvSpPr>
          <p:nvPr>
            <p:ph type="pic" idx="4"/>
          </p:nvPr>
        </p:nvSpPr>
        <p:spPr>
          <a:xfrm>
            <a:off x="46771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>
            <a:spLocks noGrp="1"/>
          </p:cNvSpPr>
          <p:nvPr>
            <p:ph type="pic" idx="5"/>
          </p:nvPr>
        </p:nvSpPr>
        <p:spPr>
          <a:xfrm>
            <a:off x="61457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1"/>
          <p:cNvSpPr>
            <a:spLocks noGrp="1"/>
          </p:cNvSpPr>
          <p:nvPr>
            <p:ph type="pic" idx="6"/>
          </p:nvPr>
        </p:nvSpPr>
        <p:spPr>
          <a:xfrm>
            <a:off x="76143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1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84400" y="668399"/>
            <a:ext cx="8578800" cy="9102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284700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1"/>
          <p:cNvSpPr>
            <a:spLocks noGrp="1"/>
          </p:cNvSpPr>
          <p:nvPr>
            <p:ph type="pic" idx="7"/>
          </p:nvPr>
        </p:nvSpPr>
        <p:spPr>
          <a:xfrm>
            <a:off x="27495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1"/>
          <p:cNvSpPr txBox="1">
            <a:spLocks noGrp="1"/>
          </p:cNvSpPr>
          <p:nvPr>
            <p:ph type="subTitle" idx="8"/>
          </p:nvPr>
        </p:nvSpPr>
        <p:spPr>
          <a:xfrm>
            <a:off x="284700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9"/>
          </p:nvPr>
        </p:nvSpPr>
        <p:spPr>
          <a:xfrm>
            <a:off x="284675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13"/>
          </p:nvPr>
        </p:nvSpPr>
        <p:spPr>
          <a:xfrm>
            <a:off x="1745775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14"/>
          </p:nvPr>
        </p:nvSpPr>
        <p:spPr>
          <a:xfrm>
            <a:off x="1745775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15"/>
          </p:nvPr>
        </p:nvSpPr>
        <p:spPr>
          <a:xfrm>
            <a:off x="1745750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6"/>
          </p:nvPr>
        </p:nvSpPr>
        <p:spPr>
          <a:xfrm>
            <a:off x="3219513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7"/>
          </p:nvPr>
        </p:nvSpPr>
        <p:spPr>
          <a:xfrm>
            <a:off x="3219513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8"/>
          </p:nvPr>
        </p:nvSpPr>
        <p:spPr>
          <a:xfrm>
            <a:off x="3219488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9"/>
          </p:nvPr>
        </p:nvSpPr>
        <p:spPr>
          <a:xfrm>
            <a:off x="4683950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20"/>
          </p:nvPr>
        </p:nvSpPr>
        <p:spPr>
          <a:xfrm>
            <a:off x="4683950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21"/>
          </p:nvPr>
        </p:nvSpPr>
        <p:spPr>
          <a:xfrm>
            <a:off x="4683925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22"/>
          </p:nvPr>
        </p:nvSpPr>
        <p:spPr>
          <a:xfrm>
            <a:off x="6148375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23"/>
          </p:nvPr>
        </p:nvSpPr>
        <p:spPr>
          <a:xfrm>
            <a:off x="6148375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24"/>
          </p:nvPr>
        </p:nvSpPr>
        <p:spPr>
          <a:xfrm>
            <a:off x="6148350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subTitle" idx="25"/>
          </p:nvPr>
        </p:nvSpPr>
        <p:spPr>
          <a:xfrm>
            <a:off x="7612800" y="3892206"/>
            <a:ext cx="1258200" cy="1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26"/>
          </p:nvPr>
        </p:nvSpPr>
        <p:spPr>
          <a:xfrm>
            <a:off x="7612800" y="4087691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ubTitle" idx="27"/>
          </p:nvPr>
        </p:nvSpPr>
        <p:spPr>
          <a:xfrm>
            <a:off x="7612775" y="4322169"/>
            <a:ext cx="1258200" cy="1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7 - One line title ">
  <p:cSld name="CUSTOM_4_1_1_1_1_1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7 - Long title">
  <p:cSld name="CUSTOM_4_1_1_1_1_1_1">
    <p:bg>
      <p:bgPr>
        <a:solidFill>
          <a:schemeClr val="dk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6900" y="0"/>
            <a:ext cx="91371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2844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23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1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2"/>
          </p:nvPr>
        </p:nvSpPr>
        <p:spPr>
          <a:xfrm>
            <a:off x="3026399" y="4388244"/>
            <a:ext cx="12054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title" hasCustomPrompt="1"/>
          </p:nvPr>
        </p:nvSpPr>
        <p:spPr>
          <a:xfrm>
            <a:off x="3168497" y="3693228"/>
            <a:ext cx="1765500" cy="66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58" name="Google Shape;158;p23"/>
          <p:cNvSpPr txBox="1">
            <a:spLocks noGrp="1"/>
          </p:cNvSpPr>
          <p:nvPr>
            <p:ph type="title" idx="3"/>
          </p:nvPr>
        </p:nvSpPr>
        <p:spPr>
          <a:xfrm>
            <a:off x="276528" y="832767"/>
            <a:ext cx="6417900" cy="1738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title" idx="4" hasCustomPrompt="1"/>
          </p:nvPr>
        </p:nvSpPr>
        <p:spPr>
          <a:xfrm>
            <a:off x="4822300" y="3693225"/>
            <a:ext cx="1880400" cy="66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5"/>
          </p:nvPr>
        </p:nvSpPr>
        <p:spPr>
          <a:xfrm>
            <a:off x="4880113" y="4388244"/>
            <a:ext cx="12054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6"/>
          </p:nvPr>
        </p:nvSpPr>
        <p:spPr>
          <a:xfrm>
            <a:off x="176425" y="3754475"/>
            <a:ext cx="1994700" cy="9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7"/>
          </p:nvPr>
        </p:nvSpPr>
        <p:spPr>
          <a:xfrm>
            <a:off x="6641100" y="3863375"/>
            <a:ext cx="25029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8"/>
          </p:nvPr>
        </p:nvSpPr>
        <p:spPr>
          <a:xfrm>
            <a:off x="7728975" y="3863375"/>
            <a:ext cx="14151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subTitle" idx="9"/>
          </p:nvPr>
        </p:nvSpPr>
        <p:spPr>
          <a:xfrm>
            <a:off x="7067246" y="4307825"/>
            <a:ext cx="20769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3"/>
          </p:nvPr>
        </p:nvSpPr>
        <p:spPr>
          <a:xfrm>
            <a:off x="4933999" y="747975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14"/>
          </p:nvPr>
        </p:nvSpPr>
        <p:spPr>
          <a:xfrm>
            <a:off x="5157668" y="1229975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5"/>
          </p:nvPr>
        </p:nvSpPr>
        <p:spPr>
          <a:xfrm>
            <a:off x="4934004" y="1229970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subTitle" idx="16"/>
          </p:nvPr>
        </p:nvSpPr>
        <p:spPr>
          <a:xfrm>
            <a:off x="5157668" y="1527600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7"/>
          </p:nvPr>
        </p:nvSpPr>
        <p:spPr>
          <a:xfrm>
            <a:off x="4933999" y="1527600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18"/>
          </p:nvPr>
        </p:nvSpPr>
        <p:spPr>
          <a:xfrm>
            <a:off x="5157668" y="1831200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19"/>
          </p:nvPr>
        </p:nvSpPr>
        <p:spPr>
          <a:xfrm>
            <a:off x="4933999" y="1831200"/>
            <a:ext cx="39864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 idx="20"/>
          </p:nvPr>
        </p:nvSpPr>
        <p:spPr>
          <a:xfrm>
            <a:off x="276528" y="1138207"/>
            <a:ext cx="6417900" cy="1738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1">
  <p:cSld name="CUSTOM_6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0" y="2074125"/>
            <a:ext cx="9144000" cy="30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288150" y="2601375"/>
            <a:ext cx="6417900" cy="24171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Findings">
  <p:cSld name="CUSTOM_7_1_1_1">
    <p:bg>
      <p:bgPr>
        <a:solidFill>
          <a:schemeClr val="dk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-6550" y="-1100"/>
            <a:ext cx="3714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77450" y="923825"/>
            <a:ext cx="2987700" cy="5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sz="2000" b="1"/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subTitle" idx="1"/>
          </p:nvPr>
        </p:nvSpPr>
        <p:spPr>
          <a:xfrm>
            <a:off x="277450" y="615150"/>
            <a:ext cx="2987700" cy="13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2"/>
          </p:nvPr>
        </p:nvSpPr>
        <p:spPr>
          <a:xfrm>
            <a:off x="4013550" y="561373"/>
            <a:ext cx="2987700" cy="2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5"/>
          <p:cNvSpPr txBox="1">
            <a:spLocks noGrp="1"/>
          </p:cNvSpPr>
          <p:nvPr>
            <p:ph type="subTitle" idx="3"/>
          </p:nvPr>
        </p:nvSpPr>
        <p:spPr>
          <a:xfrm>
            <a:off x="4341300" y="1082075"/>
            <a:ext cx="48495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title" idx="4" hasCustomPrompt="1"/>
          </p:nvPr>
        </p:nvSpPr>
        <p:spPr>
          <a:xfrm>
            <a:off x="6797450" y="2617100"/>
            <a:ext cx="1765500" cy="66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88" name="Google Shape;188;p25"/>
          <p:cNvSpPr txBox="1">
            <a:spLocks noGrp="1"/>
          </p:cNvSpPr>
          <p:nvPr>
            <p:ph type="title" idx="5" hasCustomPrompt="1"/>
          </p:nvPr>
        </p:nvSpPr>
        <p:spPr>
          <a:xfrm>
            <a:off x="4189575" y="2617100"/>
            <a:ext cx="1765500" cy="66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89" name="Google Shape;189;p25"/>
          <p:cNvSpPr txBox="1">
            <a:spLocks noGrp="1"/>
          </p:cNvSpPr>
          <p:nvPr>
            <p:ph type="subTitle" idx="6"/>
          </p:nvPr>
        </p:nvSpPr>
        <p:spPr>
          <a:xfrm>
            <a:off x="3999850" y="4176775"/>
            <a:ext cx="2138100" cy="68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7"/>
          </p:nvPr>
        </p:nvSpPr>
        <p:spPr>
          <a:xfrm>
            <a:off x="4189575" y="3348875"/>
            <a:ext cx="1765500" cy="1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subTitle" idx="8"/>
          </p:nvPr>
        </p:nvSpPr>
        <p:spPr>
          <a:xfrm>
            <a:off x="6797450" y="3348875"/>
            <a:ext cx="1765500" cy="1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subTitle" idx="9"/>
          </p:nvPr>
        </p:nvSpPr>
        <p:spPr>
          <a:xfrm>
            <a:off x="4053900" y="1082075"/>
            <a:ext cx="4860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ubTitle" idx="13"/>
          </p:nvPr>
        </p:nvSpPr>
        <p:spPr>
          <a:xfrm>
            <a:off x="4341300" y="1460445"/>
            <a:ext cx="48495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14"/>
          </p:nvPr>
        </p:nvSpPr>
        <p:spPr>
          <a:xfrm>
            <a:off x="4053900" y="1460445"/>
            <a:ext cx="4860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15"/>
          </p:nvPr>
        </p:nvSpPr>
        <p:spPr>
          <a:xfrm>
            <a:off x="4341300" y="1840801"/>
            <a:ext cx="48495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16"/>
          </p:nvPr>
        </p:nvSpPr>
        <p:spPr>
          <a:xfrm>
            <a:off x="4053900" y="1840801"/>
            <a:ext cx="486000" cy="100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17"/>
          </p:nvPr>
        </p:nvSpPr>
        <p:spPr>
          <a:xfrm>
            <a:off x="6539262" y="3947400"/>
            <a:ext cx="12576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18"/>
          </p:nvPr>
        </p:nvSpPr>
        <p:spPr>
          <a:xfrm>
            <a:off x="7801698" y="3947400"/>
            <a:ext cx="1257600" cy="45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19"/>
          </p:nvPr>
        </p:nvSpPr>
        <p:spPr>
          <a:xfrm>
            <a:off x="6533000" y="4482875"/>
            <a:ext cx="2520000" cy="5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Header">
  <p:cSld name="CUSTOM_2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6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1"/>
          </p:nvPr>
        </p:nvSpPr>
        <p:spPr>
          <a:xfrm>
            <a:off x="194920" y="2643283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subTitle" idx="2"/>
          </p:nvPr>
        </p:nvSpPr>
        <p:spPr>
          <a:xfrm>
            <a:off x="474545" y="3125283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subTitle" idx="3"/>
          </p:nvPr>
        </p:nvSpPr>
        <p:spPr>
          <a:xfrm>
            <a:off x="194920" y="3125283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subTitle" idx="4"/>
          </p:nvPr>
        </p:nvSpPr>
        <p:spPr>
          <a:xfrm>
            <a:off x="474545" y="3422908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ubTitle" idx="5"/>
          </p:nvPr>
        </p:nvSpPr>
        <p:spPr>
          <a:xfrm>
            <a:off x="194920" y="3422908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subTitle" idx="6"/>
          </p:nvPr>
        </p:nvSpPr>
        <p:spPr>
          <a:xfrm>
            <a:off x="474545" y="3726508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ubTitle" idx="7"/>
          </p:nvPr>
        </p:nvSpPr>
        <p:spPr>
          <a:xfrm>
            <a:off x="194920" y="3726508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8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xfrm>
            <a:off x="276526" y="832771"/>
            <a:ext cx="4206900" cy="771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9pPr>
          </a:lstStyle>
          <a:p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title" idx="9"/>
          </p:nvPr>
        </p:nvSpPr>
        <p:spPr>
          <a:xfrm>
            <a:off x="276525" y="1138205"/>
            <a:ext cx="6013200" cy="573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13"/>
          </p:nvPr>
        </p:nvSpPr>
        <p:spPr>
          <a:xfrm>
            <a:off x="6289775" y="3863375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ubTitle" idx="14"/>
          </p:nvPr>
        </p:nvSpPr>
        <p:spPr>
          <a:xfrm>
            <a:off x="7377650" y="3863375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subTitle" idx="15"/>
          </p:nvPr>
        </p:nvSpPr>
        <p:spPr>
          <a:xfrm>
            <a:off x="6715919" y="4307825"/>
            <a:ext cx="4983600" cy="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subTitle" idx="16"/>
          </p:nvPr>
        </p:nvSpPr>
        <p:spPr>
          <a:xfrm>
            <a:off x="4209333" y="4565962"/>
            <a:ext cx="12054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title" idx="17" hasCustomPrompt="1"/>
          </p:nvPr>
        </p:nvSpPr>
        <p:spPr>
          <a:xfrm>
            <a:off x="4168502" y="3828450"/>
            <a:ext cx="1765500" cy="66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218" name="Google Shape;218;p26"/>
          <p:cNvSpPr txBox="1">
            <a:spLocks noGrp="1"/>
          </p:cNvSpPr>
          <p:nvPr>
            <p:ph type="subTitle" idx="18"/>
          </p:nvPr>
        </p:nvSpPr>
        <p:spPr>
          <a:xfrm>
            <a:off x="4122034" y="2405891"/>
            <a:ext cx="15519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subTitle" idx="19"/>
          </p:nvPr>
        </p:nvSpPr>
        <p:spPr>
          <a:xfrm>
            <a:off x="6766059" y="2140666"/>
            <a:ext cx="1994700" cy="9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CUSTOM_10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/>
          <p:nvPr/>
        </p:nvSpPr>
        <p:spPr>
          <a:xfrm rot="10800000" flipH="1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rgbClr val="FCF7EA"/>
              </a:gs>
              <a:gs pos="100000">
                <a:srgbClr val="FAD15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1"/>
          </p:nvPr>
        </p:nvSpPr>
        <p:spPr>
          <a:xfrm>
            <a:off x="3851725" y="850675"/>
            <a:ext cx="5013900" cy="4067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 Light"/>
              <a:buNone/>
              <a:defRPr sz="2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_1">
    <p:bg>
      <p:bgPr>
        <a:solidFill>
          <a:schemeClr val="dk2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subTitle" idx="1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2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3"/>
          </p:nvPr>
        </p:nvSpPr>
        <p:spPr>
          <a:xfrm>
            <a:off x="6413584" y="21493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body" idx="4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5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body" idx="6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32" name="Google Shape;232;p28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8"/>
          <p:cNvSpPr txBox="1">
            <a:spLocks noGrp="1"/>
          </p:cNvSpPr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7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8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20_1_1"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9"/>
          <p:cNvSpPr txBox="1">
            <a:spLocks noGrp="1"/>
          </p:cNvSpPr>
          <p:nvPr>
            <p:ph type="subTitle" idx="1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subTitle" idx="2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subTitle" idx="3"/>
          </p:nvPr>
        </p:nvSpPr>
        <p:spPr>
          <a:xfrm>
            <a:off x="6413575" y="2149325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subTitle" idx="4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body" idx="5"/>
          </p:nvPr>
        </p:nvSpPr>
        <p:spPr>
          <a:xfrm>
            <a:off x="277450" y="4432425"/>
            <a:ext cx="2451300" cy="471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6"/>
          </p:nvPr>
        </p:nvSpPr>
        <p:spPr>
          <a:xfrm>
            <a:off x="277450" y="3941600"/>
            <a:ext cx="2392500" cy="1884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7"/>
          </p:nvPr>
        </p:nvSpPr>
        <p:spPr>
          <a:xfrm>
            <a:off x="284700" y="3798725"/>
            <a:ext cx="2392500" cy="105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body" idx="8"/>
          </p:nvPr>
        </p:nvSpPr>
        <p:spPr>
          <a:xfrm>
            <a:off x="3348563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9"/>
          </p:nvPr>
        </p:nvSpPr>
        <p:spPr>
          <a:xfrm>
            <a:off x="3348563" y="3941600"/>
            <a:ext cx="2392500" cy="1884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13"/>
          </p:nvPr>
        </p:nvSpPr>
        <p:spPr>
          <a:xfrm>
            <a:off x="3355813" y="3798725"/>
            <a:ext cx="2392500" cy="105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29"/>
          <p:cNvSpPr txBox="1">
            <a:spLocks noGrp="1"/>
          </p:cNvSpPr>
          <p:nvPr>
            <p:ph type="body" idx="14"/>
          </p:nvPr>
        </p:nvSpPr>
        <p:spPr>
          <a:xfrm>
            <a:off x="6434538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subTitle" idx="15"/>
          </p:nvPr>
        </p:nvSpPr>
        <p:spPr>
          <a:xfrm>
            <a:off x="6434538" y="3941600"/>
            <a:ext cx="2392500" cy="1884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subTitle" idx="16"/>
          </p:nvPr>
        </p:nvSpPr>
        <p:spPr>
          <a:xfrm>
            <a:off x="6441788" y="3798725"/>
            <a:ext cx="2392500" cy="105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1">
  <p:cSld name="CUSTOM_19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/>
          <p:nvPr/>
        </p:nvSpPr>
        <p:spPr>
          <a:xfrm rot="10800000">
            <a:off x="2994200" y="-1500"/>
            <a:ext cx="3078000" cy="2577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6073500" y="2574000"/>
            <a:ext cx="3074700" cy="2569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30"/>
          <p:cNvSpPr/>
          <p:nvPr/>
        </p:nvSpPr>
        <p:spPr>
          <a:xfrm rot="5400000">
            <a:off x="6324925" y="-250900"/>
            <a:ext cx="2569500" cy="30747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30"/>
          <p:cNvSpPr/>
          <p:nvPr/>
        </p:nvSpPr>
        <p:spPr>
          <a:xfrm rot="-5400000">
            <a:off x="3253050" y="2320675"/>
            <a:ext cx="2568600" cy="30741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3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1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3">
  <p:cSld name="CUSTOM_19_1_1_2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31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ubTitle" idx="1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2"/>
          </p:nvPr>
        </p:nvSpPr>
        <p:spPr>
          <a:xfrm>
            <a:off x="284700" y="3003739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3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4"/>
          </p:nvPr>
        </p:nvSpPr>
        <p:spPr>
          <a:xfrm>
            <a:off x="6461050" y="3446400"/>
            <a:ext cx="23958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5"/>
          </p:nvPr>
        </p:nvSpPr>
        <p:spPr>
          <a:xfrm>
            <a:off x="6458825" y="3045908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body" idx="6"/>
          </p:nvPr>
        </p:nvSpPr>
        <p:spPr>
          <a:xfrm>
            <a:off x="6459638" y="1001054"/>
            <a:ext cx="2395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7"/>
          </p:nvPr>
        </p:nvSpPr>
        <p:spPr>
          <a:xfrm>
            <a:off x="6457413" y="600561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subTitle" idx="8"/>
          </p:nvPr>
        </p:nvSpPr>
        <p:spPr>
          <a:xfrm>
            <a:off x="2436894" y="3751933"/>
            <a:ext cx="2092500" cy="1329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subTitle" idx="9"/>
          </p:nvPr>
        </p:nvSpPr>
        <p:spPr>
          <a:xfrm>
            <a:off x="268019" y="3751933"/>
            <a:ext cx="1729500" cy="1329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3"/>
          </p:nvPr>
        </p:nvSpPr>
        <p:spPr>
          <a:xfrm>
            <a:off x="284400" y="3514525"/>
            <a:ext cx="17751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14"/>
          </p:nvPr>
        </p:nvSpPr>
        <p:spPr>
          <a:xfrm>
            <a:off x="2446325" y="3514525"/>
            <a:ext cx="17751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items">
  <p:cSld name="CUSTOM_19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 rot="10800000" flipH="1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1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2"/>
          </p:nvPr>
        </p:nvSpPr>
        <p:spPr>
          <a:xfrm>
            <a:off x="5759125" y="3838034"/>
            <a:ext cx="26910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3"/>
          </p:nvPr>
        </p:nvSpPr>
        <p:spPr>
          <a:xfrm>
            <a:off x="5759125" y="288125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4"/>
          </p:nvPr>
        </p:nvSpPr>
        <p:spPr>
          <a:xfrm>
            <a:off x="5759125" y="1924478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5"/>
          </p:nvPr>
        </p:nvSpPr>
        <p:spPr>
          <a:xfrm>
            <a:off x="5759125" y="96770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subTitle" idx="6"/>
          </p:nvPr>
        </p:nvSpPr>
        <p:spPr>
          <a:xfrm>
            <a:off x="3562875" y="967700"/>
            <a:ext cx="1428600" cy="4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subTitle" idx="7"/>
          </p:nvPr>
        </p:nvSpPr>
        <p:spPr>
          <a:xfrm>
            <a:off x="3562875" y="1924475"/>
            <a:ext cx="1428600" cy="4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subTitle" idx="8"/>
          </p:nvPr>
        </p:nvSpPr>
        <p:spPr>
          <a:xfrm>
            <a:off x="3562875" y="2881250"/>
            <a:ext cx="1428600" cy="4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32"/>
          <p:cNvSpPr txBox="1">
            <a:spLocks noGrp="1"/>
          </p:cNvSpPr>
          <p:nvPr>
            <p:ph type="subTitle" idx="9"/>
          </p:nvPr>
        </p:nvSpPr>
        <p:spPr>
          <a:xfrm>
            <a:off x="3562875" y="3838025"/>
            <a:ext cx="1428600" cy="41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6">
  <p:cSld name="CUSTOM_19_1_1_1_1_1_2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3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subTitle" idx="1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3"/>
          <p:cNvSpPr txBox="1">
            <a:spLocks noGrp="1"/>
          </p:cNvSpPr>
          <p:nvPr>
            <p:ph type="body" idx="2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97" name="Google Shape;297;p33"/>
          <p:cNvSpPr txBox="1">
            <a:spLocks noGrp="1"/>
          </p:cNvSpPr>
          <p:nvPr>
            <p:ph type="subTitle" idx="3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298" name="Google Shape;298;p33"/>
          <p:cNvSpPr txBox="1">
            <a:spLocks noGrp="1"/>
          </p:cNvSpPr>
          <p:nvPr>
            <p:ph type="body" idx="4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subTitle" idx="5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body" idx="6"/>
          </p:nvPr>
        </p:nvSpPr>
        <p:spPr>
          <a:xfrm>
            <a:off x="64130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01" name="Google Shape;301;p33"/>
          <p:cNvSpPr txBox="1">
            <a:spLocks noGrp="1"/>
          </p:cNvSpPr>
          <p:nvPr>
            <p:ph type="subTitle" idx="7"/>
          </p:nvPr>
        </p:nvSpPr>
        <p:spPr>
          <a:xfrm>
            <a:off x="6410813" y="3118564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02" name="Google Shape;302;p33"/>
          <p:cNvSpPr txBox="1">
            <a:spLocks noGrp="1"/>
          </p:cNvSpPr>
          <p:nvPr>
            <p:ph type="body" idx="8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03" name="Google Shape;303;p33"/>
          <p:cNvSpPr txBox="1">
            <a:spLocks noGrp="1"/>
          </p:cNvSpPr>
          <p:nvPr>
            <p:ph type="body" idx="9"/>
          </p:nvPr>
        </p:nvSpPr>
        <p:spPr>
          <a:xfrm>
            <a:off x="4936000" y="927350"/>
            <a:ext cx="3929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04" name="Google Shape;304;p33"/>
          <p:cNvSpPr txBox="1">
            <a:spLocks noGrp="1"/>
          </p:cNvSpPr>
          <p:nvPr>
            <p:ph type="subTitle" idx="13"/>
          </p:nvPr>
        </p:nvSpPr>
        <p:spPr>
          <a:xfrm>
            <a:off x="4936000" y="1486039"/>
            <a:ext cx="16467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05" name="Google Shape;305;p33"/>
          <p:cNvSpPr txBox="1">
            <a:spLocks noGrp="1"/>
          </p:cNvSpPr>
          <p:nvPr>
            <p:ph type="subTitle" idx="14"/>
          </p:nvPr>
        </p:nvSpPr>
        <p:spPr>
          <a:xfrm>
            <a:off x="4926575" y="1612925"/>
            <a:ext cx="1392000" cy="775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33"/>
          <p:cNvSpPr txBox="1">
            <a:spLocks noGrp="1"/>
          </p:cNvSpPr>
          <p:nvPr>
            <p:ph type="subTitle" idx="15"/>
          </p:nvPr>
        </p:nvSpPr>
        <p:spPr>
          <a:xfrm>
            <a:off x="6537700" y="1486039"/>
            <a:ext cx="16467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07" name="Google Shape;307;p33"/>
          <p:cNvSpPr txBox="1">
            <a:spLocks noGrp="1"/>
          </p:cNvSpPr>
          <p:nvPr>
            <p:ph type="subTitle" idx="16"/>
          </p:nvPr>
        </p:nvSpPr>
        <p:spPr>
          <a:xfrm>
            <a:off x="6528275" y="1612925"/>
            <a:ext cx="1392000" cy="775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8">
  <p:cSld name="CUSTOM_19_1_1_1_1_1_1_1_1_1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34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subTitle" idx="1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34"/>
          <p:cNvSpPr txBox="1">
            <a:spLocks noGrp="1"/>
          </p:cNvSpPr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4"/>
          <p:cNvSpPr txBox="1">
            <a:spLocks noGrp="1"/>
          </p:cNvSpPr>
          <p:nvPr>
            <p:ph type="body" idx="2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14" name="Google Shape;314;p34"/>
          <p:cNvSpPr txBox="1">
            <a:spLocks noGrp="1"/>
          </p:cNvSpPr>
          <p:nvPr>
            <p:ph type="body" idx="3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15" name="Google Shape;315;p34"/>
          <p:cNvSpPr txBox="1">
            <a:spLocks noGrp="1"/>
          </p:cNvSpPr>
          <p:nvPr>
            <p:ph type="subTitle" idx="4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16" name="Google Shape;316;p34"/>
          <p:cNvSpPr txBox="1">
            <a:spLocks noGrp="1"/>
          </p:cNvSpPr>
          <p:nvPr>
            <p:ph type="body" idx="5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317" name="Google Shape;317;p34"/>
          <p:cNvSpPr txBox="1">
            <a:spLocks noGrp="1"/>
          </p:cNvSpPr>
          <p:nvPr>
            <p:ph type="subTitle" idx="6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18" name="Google Shape;318;p34"/>
          <p:cNvSpPr txBox="1">
            <a:spLocks noGrp="1"/>
          </p:cNvSpPr>
          <p:nvPr>
            <p:ph type="subTitle" idx="7"/>
          </p:nvPr>
        </p:nvSpPr>
        <p:spPr>
          <a:xfrm>
            <a:off x="6465150" y="3948989"/>
            <a:ext cx="16467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19" name="Google Shape;319;p34"/>
          <p:cNvSpPr txBox="1">
            <a:spLocks noGrp="1"/>
          </p:cNvSpPr>
          <p:nvPr>
            <p:ph type="subTitle" idx="8"/>
          </p:nvPr>
        </p:nvSpPr>
        <p:spPr>
          <a:xfrm>
            <a:off x="6455725" y="4075875"/>
            <a:ext cx="1392000" cy="775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34"/>
          <p:cNvSpPr txBox="1">
            <a:spLocks noGrp="1"/>
          </p:cNvSpPr>
          <p:nvPr>
            <p:ph type="subTitle" idx="9"/>
          </p:nvPr>
        </p:nvSpPr>
        <p:spPr>
          <a:xfrm>
            <a:off x="6474575" y="2749851"/>
            <a:ext cx="16467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21" name="Google Shape;321;p34"/>
          <p:cNvSpPr txBox="1">
            <a:spLocks noGrp="1"/>
          </p:cNvSpPr>
          <p:nvPr>
            <p:ph type="subTitle" idx="13"/>
          </p:nvPr>
        </p:nvSpPr>
        <p:spPr>
          <a:xfrm>
            <a:off x="6465150" y="2876738"/>
            <a:ext cx="1392000" cy="775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2" name="Google Shape;322;p34"/>
          <p:cNvSpPr txBox="1">
            <a:spLocks noGrp="1"/>
          </p:cNvSpPr>
          <p:nvPr>
            <p:ph type="subTitle" idx="14"/>
          </p:nvPr>
        </p:nvSpPr>
        <p:spPr>
          <a:xfrm>
            <a:off x="6469863" y="1550714"/>
            <a:ext cx="1646700" cy="21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23" name="Google Shape;323;p34"/>
          <p:cNvSpPr txBox="1">
            <a:spLocks noGrp="1"/>
          </p:cNvSpPr>
          <p:nvPr>
            <p:ph type="subTitle" idx="15"/>
          </p:nvPr>
        </p:nvSpPr>
        <p:spPr>
          <a:xfrm>
            <a:off x="6460438" y="1677600"/>
            <a:ext cx="1392000" cy="775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34"/>
          <p:cNvSpPr txBox="1">
            <a:spLocks noGrp="1"/>
          </p:cNvSpPr>
          <p:nvPr>
            <p:ph type="body" idx="16"/>
          </p:nvPr>
        </p:nvSpPr>
        <p:spPr>
          <a:xfrm>
            <a:off x="6455725" y="927350"/>
            <a:ext cx="24099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41" name="Google Shape;341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52" name="Google Shape;352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6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7" name="Google Shape;357;p46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8" name="Google Shape;358;p46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9" name="Google Shape;359;p46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0" name="Google Shape;360;p46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1" name="Google Shape;361;p46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5" name="Google Shape;365;p47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68" name="Google Shape;368;p48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9" name="Google Shape;369;p48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0" name="Google Shape;370;p48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1" name="Google Shape;371;p48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49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5" name="Google Shape;375;p4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76" name="Google Shape;376;p49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7" name="Google Shape;377;p49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49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49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50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50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4" name="Google Shape;384;p50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5" name="Google Shape;385;p50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86" name="Google Shape;386;p50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50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50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9" name="Google Shape;389;p50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51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2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52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2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2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8" name="Google Shape;398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9" name="Google Shape;399;p52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52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3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53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53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53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6" name="Google Shape;406;p53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53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8" name="Google Shape;408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9" name="Google Shape;409;p53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0" name="Google Shape;410;p53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1" name="Google Shape;411;p53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55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55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55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55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55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5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55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55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55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1783150"/>
            <a:ext cx="6480300" cy="30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5">
          <p15:clr>
            <a:srgbClr val="E46962"/>
          </p15:clr>
        </p15:guide>
        <p15:guide id="2" pos="5585">
          <p15:clr>
            <a:srgbClr val="E46962"/>
          </p15:clr>
        </p15:guide>
        <p15:guide id="3" orient="horz" pos="870">
          <p15:clr>
            <a:srgbClr val="E46962"/>
          </p15:clr>
        </p15:guide>
        <p15:guide id="4" pos="1497">
          <p15:clr>
            <a:srgbClr val="E46962"/>
          </p15:clr>
        </p15:guide>
        <p15:guide id="5" pos="1541">
          <p15:clr>
            <a:srgbClr val="E46962"/>
          </p15:clr>
        </p15:guide>
        <p15:guide id="6" pos="2860">
          <p15:clr>
            <a:srgbClr val="E46962"/>
          </p15:clr>
        </p15:guide>
        <p15:guide id="7" pos="2900">
          <p15:clr>
            <a:srgbClr val="E46962"/>
          </p15:clr>
        </p15:guide>
        <p15:guide id="8" pos="4222">
          <p15:clr>
            <a:srgbClr val="E46962"/>
          </p15:clr>
        </p15:guide>
        <p15:guide id="9" pos="4262">
          <p15:clr>
            <a:srgbClr val="E46962"/>
          </p15:clr>
        </p15:guide>
        <p15:guide id="10" orient="horz" pos="154">
          <p15:clr>
            <a:srgbClr val="E46962"/>
          </p15:clr>
        </p15:guide>
        <p15:guide id="11" orient="horz" pos="30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6"/>
          <p:cNvSpPr txBox="1">
            <a:spLocks noGrp="1"/>
          </p:cNvSpPr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/>
            <a:r>
              <a:rPr lang="tr-TR" dirty="0"/>
              <a:t>Veri Analitiği ile</a:t>
            </a:r>
            <a:br>
              <a:rPr lang="tr-TR" dirty="0"/>
            </a:br>
            <a:r>
              <a:rPr lang="tr-TR" dirty="0"/>
              <a:t>Beslenme ve Yaşam Tarzı Analizi</a:t>
            </a:r>
            <a:endParaRPr dirty="0"/>
          </a:p>
        </p:txBody>
      </p:sp>
      <p:sp>
        <p:nvSpPr>
          <p:cNvPr id="430" name="Google Shape;430;p56"/>
          <p:cNvSpPr txBox="1">
            <a:spLocks noGrp="1"/>
          </p:cNvSpPr>
          <p:nvPr>
            <p:ph type="subTitle" idx="1"/>
          </p:nvPr>
        </p:nvSpPr>
        <p:spPr>
          <a:xfrm>
            <a:off x="272350" y="4377150"/>
            <a:ext cx="1812900" cy="12388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Ceren Eroğlu</a:t>
            </a:r>
          </a:p>
        </p:txBody>
      </p:sp>
      <p:sp>
        <p:nvSpPr>
          <p:cNvPr id="431" name="Google Shape;431;p56"/>
          <p:cNvSpPr txBox="1">
            <a:spLocks noGrp="1"/>
          </p:cNvSpPr>
          <p:nvPr>
            <p:ph type="subTitle" idx="4"/>
          </p:nvPr>
        </p:nvSpPr>
        <p:spPr>
          <a:xfrm>
            <a:off x="7046325" y="244300"/>
            <a:ext cx="18129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Nisan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>
            <a:spLocks noGrp="1"/>
          </p:cNvSpPr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İçerik</a:t>
            </a:r>
            <a:endParaRPr sz="3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Sıralaması</a:t>
            </a:r>
            <a:endParaRPr sz="3700"/>
          </a:p>
        </p:txBody>
      </p:sp>
      <p:sp>
        <p:nvSpPr>
          <p:cNvPr id="437" name="Google Shape;437;p57"/>
          <p:cNvSpPr txBox="1">
            <a:spLocks noGrp="1"/>
          </p:cNvSpPr>
          <p:nvPr>
            <p:ph type="subTitle" idx="1"/>
          </p:nvPr>
        </p:nvSpPr>
        <p:spPr>
          <a:xfrm>
            <a:off x="3849250" y="1153075"/>
            <a:ext cx="5013900" cy="25551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Problem</a:t>
            </a:r>
            <a:endParaRPr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Analiz</a:t>
            </a:r>
            <a:endParaRPr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İçgörü</a:t>
            </a:r>
            <a:endParaRPr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Aksiyon</a:t>
            </a:r>
            <a:endParaRPr/>
          </a:p>
        </p:txBody>
      </p:sp>
      <p:sp>
        <p:nvSpPr>
          <p:cNvPr id="438" name="Google Shape;438;p57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/>
          <p:nvPr/>
        </p:nvSpPr>
        <p:spPr>
          <a:xfrm>
            <a:off x="0" y="1750300"/>
            <a:ext cx="3637500" cy="34065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58"/>
          <p:cNvSpPr txBox="1">
            <a:spLocks noGrp="1"/>
          </p:cNvSpPr>
          <p:nvPr>
            <p:ph type="subTitle" idx="1"/>
          </p:nvPr>
        </p:nvSpPr>
        <p:spPr>
          <a:xfrm>
            <a:off x="290100" y="2571750"/>
            <a:ext cx="3057300" cy="1277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sz="1500" b="1" dirty="0"/>
              <a:t>Son 20 gün içerisinde kilo 78.5 kg’dan 76.6 kg’a düşerken</a:t>
            </a:r>
          </a:p>
          <a:p>
            <a:pPr marL="0" lvl="0" indent="0"/>
            <a:r>
              <a:rPr lang="tr-TR" sz="1500" b="1" dirty="0"/>
              <a:t>günlük aktivite artışı ve kalori kontrolü ile daha stabil bir</a:t>
            </a:r>
          </a:p>
          <a:p>
            <a:pPr marL="0" lvl="0" indent="0"/>
            <a:r>
              <a:rPr lang="tr-TR" sz="1500" b="1" dirty="0"/>
              <a:t>kilo kaybı süreci gözlemlendi.</a:t>
            </a:r>
            <a:endParaRPr sz="1500" b="1" dirty="0"/>
          </a:p>
        </p:txBody>
      </p:sp>
      <p:sp>
        <p:nvSpPr>
          <p:cNvPr id="445" name="Google Shape;445;p58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446" name="Google Shape;446;p58"/>
          <p:cNvSpPr txBox="1">
            <a:spLocks noGrp="1"/>
          </p:cNvSpPr>
          <p:nvPr>
            <p:ph type="title"/>
          </p:nvPr>
        </p:nvSpPr>
        <p:spPr>
          <a:xfrm>
            <a:off x="343400" y="438275"/>
            <a:ext cx="8519700" cy="619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/>
            <a:r>
              <a:rPr lang="tr-TR" dirty="0"/>
              <a:t>20 Günlük Süreçte Stabil Kilo Kaybı (-1.9 kg)</a:t>
            </a:r>
            <a:endParaRPr dirty="0"/>
          </a:p>
        </p:txBody>
      </p:sp>
      <p:graphicFrame>
        <p:nvGraphicFramePr>
          <p:cNvPr id="2" name="Grafik 1">
            <a:extLst>
              <a:ext uri="{FF2B5EF4-FFF2-40B4-BE49-F238E27FC236}">
                <a16:creationId xmlns:a16="http://schemas.microsoft.com/office/drawing/2014/main" id="{50934C3F-99CA-E4C7-A166-54E972803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186701"/>
              </p:ext>
            </p:extLst>
          </p:nvPr>
        </p:nvGraphicFramePr>
        <p:xfrm>
          <a:off x="4146997" y="19620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"/>
          <p:cNvSpPr txBox="1">
            <a:spLocks noGrp="1"/>
          </p:cNvSpPr>
          <p:nvPr>
            <p:ph type="subTitle" idx="1"/>
          </p:nvPr>
        </p:nvSpPr>
        <p:spPr>
          <a:xfrm>
            <a:off x="504850" y="1381775"/>
            <a:ext cx="7932000" cy="689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dirty="0"/>
              <a:t>Azalan kalori alımı ve artan günlük aktivite ile birlikte kilo değişiminde düzenli ve stabil bir düşüş trendi gözlemleniyor.</a:t>
            </a:r>
            <a:endParaRPr dirty="0"/>
          </a:p>
        </p:txBody>
      </p:sp>
      <p:sp>
        <p:nvSpPr>
          <p:cNvPr id="453" name="Google Shape;453;p59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454" name="Google Shape;454;p59"/>
          <p:cNvSpPr txBox="1">
            <a:spLocks noGrp="1"/>
          </p:cNvSpPr>
          <p:nvPr>
            <p:ph type="title"/>
          </p:nvPr>
        </p:nvSpPr>
        <p:spPr>
          <a:xfrm>
            <a:off x="343400" y="438275"/>
            <a:ext cx="8519700" cy="619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/>
            <a:r>
              <a:rPr lang="tr-TR" dirty="0"/>
              <a:t>Kilo Kaybı ile Yaşam Tarzı Değişimleri Arasındaki İlişki</a:t>
            </a:r>
            <a:endParaRPr dirty="0"/>
          </a:p>
        </p:txBody>
      </p:sp>
      <p:graphicFrame>
        <p:nvGraphicFramePr>
          <p:cNvPr id="2" name="Grafik 1">
            <a:extLst>
              <a:ext uri="{FF2B5EF4-FFF2-40B4-BE49-F238E27FC236}">
                <a16:creationId xmlns:a16="http://schemas.microsoft.com/office/drawing/2014/main" id="{50934C3F-99CA-E4C7-A166-54E972803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430236"/>
              </p:ext>
            </p:extLst>
          </p:nvPr>
        </p:nvGraphicFramePr>
        <p:xfrm>
          <a:off x="2015543" y="212742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0"/>
          <p:cNvSpPr/>
          <p:nvPr/>
        </p:nvSpPr>
        <p:spPr>
          <a:xfrm>
            <a:off x="5971425" y="2571750"/>
            <a:ext cx="3174900" cy="25845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60"/>
          <p:cNvSpPr/>
          <p:nvPr/>
        </p:nvSpPr>
        <p:spPr>
          <a:xfrm>
            <a:off x="3055975" y="2571750"/>
            <a:ext cx="3041400" cy="25845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Google Shape;462;p60"/>
          <p:cNvSpPr/>
          <p:nvPr/>
        </p:nvSpPr>
        <p:spPr>
          <a:xfrm>
            <a:off x="0" y="2571750"/>
            <a:ext cx="3174900" cy="25845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60"/>
          <p:cNvSpPr txBox="1">
            <a:spLocks noGrp="1"/>
          </p:cNvSpPr>
          <p:nvPr>
            <p:ph type="body" idx="1"/>
          </p:nvPr>
        </p:nvSpPr>
        <p:spPr>
          <a:xfrm>
            <a:off x="284400" y="2814354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buNone/>
            </a:pPr>
            <a:r>
              <a:rPr lang="tr-TR" sz="1600" b="1" dirty="0">
                <a:latin typeface="Inter"/>
                <a:ea typeface="Inter"/>
                <a:cs typeface="Inter"/>
                <a:sym typeface="Inter"/>
              </a:rPr>
              <a:t>Artan günlük adım sayısı, enerji harcamasını artırarak</a:t>
            </a:r>
          </a:p>
          <a:p>
            <a:pPr marL="0" lvl="0" indent="0">
              <a:buNone/>
            </a:pPr>
            <a:r>
              <a:rPr lang="tr-TR" sz="1600" b="1" dirty="0">
                <a:latin typeface="Inter"/>
                <a:ea typeface="Inter"/>
                <a:cs typeface="Inter"/>
                <a:sym typeface="Inter"/>
              </a:rPr>
              <a:t>kilo değişimini destekliyor olabilir.</a:t>
            </a:r>
            <a:endParaRPr sz="16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60"/>
          <p:cNvSpPr txBox="1">
            <a:spLocks noGrp="1"/>
          </p:cNvSpPr>
          <p:nvPr>
            <p:ph type="title"/>
          </p:nvPr>
        </p:nvSpPr>
        <p:spPr>
          <a:xfrm>
            <a:off x="277450" y="244300"/>
            <a:ext cx="6418200" cy="6918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/>
            <a:r>
              <a:rPr lang="tr-TR" sz="2300" dirty="0"/>
              <a:t>Kilo Değişiminin Olası Nedenleri</a:t>
            </a:r>
            <a:endParaRPr sz="2300" dirty="0"/>
          </a:p>
        </p:txBody>
      </p:sp>
      <p:sp>
        <p:nvSpPr>
          <p:cNvPr id="465" name="Google Shape;465;p60"/>
          <p:cNvSpPr txBox="1">
            <a:spLocks noGrp="1"/>
          </p:cNvSpPr>
          <p:nvPr>
            <p:ph type="body" idx="3"/>
          </p:nvPr>
        </p:nvSpPr>
        <p:spPr>
          <a:xfrm>
            <a:off x="3356096" y="2814354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800"/>
              </a:spcAft>
              <a:buNone/>
            </a:pPr>
            <a:r>
              <a:rPr lang="tr-TR" sz="1600" b="1" dirty="0">
                <a:latin typeface="Inter"/>
                <a:ea typeface="Inter"/>
                <a:cs typeface="Inter"/>
                <a:sym typeface="Inter"/>
              </a:rPr>
              <a:t>Azalan günlük kalori alımı, kalori açığı oluşturarak kilo kaybını hızlandırıyor olabilir.</a:t>
            </a:r>
            <a:endParaRPr sz="16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60"/>
          <p:cNvSpPr txBox="1">
            <a:spLocks noGrp="1"/>
          </p:cNvSpPr>
          <p:nvPr>
            <p:ph type="body" idx="5"/>
          </p:nvPr>
        </p:nvSpPr>
        <p:spPr>
          <a:xfrm>
            <a:off x="6418250" y="2594094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tr-TR" sz="1600" b="1" dirty="0">
                <a:latin typeface="Inter"/>
                <a:ea typeface="Inter"/>
                <a:cs typeface="Inter"/>
                <a:sym typeface="Inter"/>
              </a:rPr>
              <a:t>Daha düzenli uyku süresi, iştah kontrolü ve günlük rutini olumlu etkiliyor olabilir.</a:t>
            </a:r>
            <a:endParaRPr sz="1600" b="1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60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68" name="Google Shape;468;p60"/>
          <p:cNvSpPr txBox="1"/>
          <p:nvPr/>
        </p:nvSpPr>
        <p:spPr>
          <a:xfrm>
            <a:off x="367650" y="1219175"/>
            <a:ext cx="8471100" cy="10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381000"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tr-TR" sz="1700" dirty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Azalan kalori alımı, artan günlük aktivite ve daha düzenli uyku alışkanlıkları kilo kaybı sürecini destekliyor olabilir.</a:t>
            </a:r>
            <a:endParaRPr sz="1700" dirty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" name="Google Shape;471;p60" title="weightlifting.png">
            <a:extLst>
              <a:ext uri="{FF2B5EF4-FFF2-40B4-BE49-F238E27FC236}">
                <a16:creationId xmlns:a16="http://schemas.microsoft.com/office/drawing/2014/main" id="{C8A32C3D-C8BA-1061-0C1A-966334CF5D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738" y="4378254"/>
            <a:ext cx="691800" cy="6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719FB467-692D-3F98-4C27-1865522C57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1389" l="9444" r="90000">
                        <a14:foregroundMark x1="11389" y1="36667" x2="11389" y2="36667"/>
                        <a14:foregroundMark x1="11111" y1="35556" x2="15833" y2="46389"/>
                        <a14:foregroundMark x1="25000" y1="57222" x2="28889" y2="59722"/>
                        <a14:foregroundMark x1="54167" y1="58611" x2="62500" y2="59444"/>
                        <a14:foregroundMark x1="43611" y1="39444" x2="47778" y2="41944"/>
                        <a14:foregroundMark x1="72778" y1="25556" x2="73611" y2="29444"/>
                        <a14:foregroundMark x1="9722" y1="56944" x2="11389" y2="60000"/>
                        <a14:foregroundMark x1="89722" y1="91389" x2="88611" y2="85000"/>
                      </a14:backgroundRemoval>
                    </a14:imgEffect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07252" y="4197300"/>
            <a:ext cx="870362" cy="870362"/>
          </a:xfrm>
          <a:prstGeom prst="rect">
            <a:avLst/>
          </a:prstGeom>
        </p:spPr>
      </p:pic>
      <p:pic>
        <p:nvPicPr>
          <p:cNvPr id="7" name="Resim 6" descr="A simple icon featuring a spoon and fork forming a circle, symbolizing a meal or dining.&#10;&#10;Yapay zeka tarafından oluşturulmuş içerik yanlış olabilir.">
            <a:extLst>
              <a:ext uri="{FF2B5EF4-FFF2-40B4-BE49-F238E27FC236}">
                <a16:creationId xmlns:a16="http://schemas.microsoft.com/office/drawing/2014/main" id="{CA22EE11-2C94-ED97-D18E-3D55FD22D5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934" b="95288" l="5439" r="95439">
                        <a14:foregroundMark x1="14211" y1="21466" x2="14211" y2="21466"/>
                        <a14:foregroundMark x1="5789" y1="35951" x2="5789" y2="35951"/>
                        <a14:foregroundMark x1="39123" y1="5934" x2="39123" y2="5934"/>
                        <a14:foregroundMark x1="65263" y1="17452" x2="65263" y2="17452"/>
                        <a14:foregroundMark x1="92982" y1="36475" x2="92982" y2="36475"/>
                        <a14:foregroundMark x1="95614" y1="47120" x2="95614" y2="47120"/>
                        <a14:foregroundMark x1="60702" y1="95288" x2="60702" y2="952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8428" y="4239311"/>
            <a:ext cx="826394" cy="8307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1"/>
          <p:cNvSpPr/>
          <p:nvPr/>
        </p:nvSpPr>
        <p:spPr>
          <a:xfrm>
            <a:off x="3055600" y="1748075"/>
            <a:ext cx="3045300" cy="34086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61"/>
          <p:cNvSpPr/>
          <p:nvPr/>
        </p:nvSpPr>
        <p:spPr>
          <a:xfrm rot="10800000">
            <a:off x="-7575" y="1746875"/>
            <a:ext cx="3070200" cy="341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61"/>
          <p:cNvSpPr/>
          <p:nvPr/>
        </p:nvSpPr>
        <p:spPr>
          <a:xfrm rot="10800000">
            <a:off x="6088425" y="1746875"/>
            <a:ext cx="3070200" cy="34110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61"/>
          <p:cNvSpPr txBox="1">
            <a:spLocks noGrp="1"/>
          </p:cNvSpPr>
          <p:nvPr>
            <p:ph type="subTitle" idx="1"/>
          </p:nvPr>
        </p:nvSpPr>
        <p:spPr>
          <a:xfrm>
            <a:off x="298063" y="2433164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Kalori Alımı </a:t>
            </a:r>
            <a:r>
              <a:rPr lang="en" dirty="0"/>
              <a:t>Kontrolü</a:t>
            </a:r>
            <a:endParaRPr dirty="0"/>
          </a:p>
        </p:txBody>
      </p:sp>
      <p:sp>
        <p:nvSpPr>
          <p:cNvPr id="480" name="Google Shape;480;p61"/>
          <p:cNvSpPr txBox="1">
            <a:spLocks noGrp="1"/>
          </p:cNvSpPr>
          <p:nvPr>
            <p:ph type="subTitle" idx="2"/>
          </p:nvPr>
        </p:nvSpPr>
        <p:spPr>
          <a:xfrm>
            <a:off x="3349875" y="2375998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dirty="0"/>
              <a:t>Protein, Karbonhidrat ve Yağ Dengesi</a:t>
            </a:r>
            <a:endParaRPr dirty="0"/>
          </a:p>
        </p:txBody>
      </p:sp>
      <p:sp>
        <p:nvSpPr>
          <p:cNvPr id="481" name="Google Shape;481;p61"/>
          <p:cNvSpPr txBox="1">
            <a:spLocks noGrp="1"/>
          </p:cNvSpPr>
          <p:nvPr>
            <p:ph type="subTitle" idx="3"/>
          </p:nvPr>
        </p:nvSpPr>
        <p:spPr>
          <a:xfrm>
            <a:off x="6420800" y="2419365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Günlük </a:t>
            </a:r>
            <a:r>
              <a:rPr lang="tr-TR" dirty="0"/>
              <a:t>Adım Sayısı</a:t>
            </a:r>
            <a:endParaRPr dirty="0"/>
          </a:p>
        </p:txBody>
      </p:sp>
      <p:sp>
        <p:nvSpPr>
          <p:cNvPr id="482" name="Google Shape;482;p61"/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83" name="Google Shape;483;p61"/>
          <p:cNvSpPr txBox="1">
            <a:spLocks noGrp="1"/>
          </p:cNvSpPr>
          <p:nvPr>
            <p:ph type="body" idx="4"/>
          </p:nvPr>
        </p:nvSpPr>
        <p:spPr>
          <a:xfrm>
            <a:off x="271900" y="2894437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tr-TR" sz="1600" dirty="0"/>
              <a:t>Günlük kalori alımı 1700–1900 kcal aralığında sabitlenmeli.</a:t>
            </a:r>
            <a:endParaRPr sz="1600" dirty="0"/>
          </a:p>
        </p:txBody>
      </p:sp>
      <p:sp>
        <p:nvSpPr>
          <p:cNvPr id="484" name="Google Shape;484;p61"/>
          <p:cNvSpPr txBox="1">
            <a:spLocks noGrp="1"/>
          </p:cNvSpPr>
          <p:nvPr>
            <p:ph type="body" idx="5"/>
          </p:nvPr>
        </p:nvSpPr>
        <p:spPr>
          <a:xfrm>
            <a:off x="3344959" y="2767502"/>
            <a:ext cx="2778504" cy="2431923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tr-TR" sz="1600" dirty="0"/>
              <a:t>Protein alımı 85–100 g, karbonhidrat alımı 180–220 g ve yağ alımı 60–75 g aralığında tutulmalı, böylece enerji seviyesi, tokluk hissi ve metabolik denge daha stabil hale getirilmeli.</a:t>
            </a:r>
            <a:b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p61"/>
          <p:cNvSpPr txBox="1">
            <a:spLocks noGrp="1"/>
          </p:cNvSpPr>
          <p:nvPr>
            <p:ph type="body" idx="6"/>
          </p:nvPr>
        </p:nvSpPr>
        <p:spPr>
          <a:xfrm>
            <a:off x="6376274" y="2894437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tr-TR" sz="1600" dirty="0"/>
              <a:t>Günlük adım sayısı 10.000–13.000 aralığında tutulmalı.</a:t>
            </a:r>
            <a:b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6" name="Google Shape;486;p61"/>
          <p:cNvSpPr/>
          <p:nvPr/>
        </p:nvSpPr>
        <p:spPr>
          <a:xfrm>
            <a:off x="6369778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61"/>
          <p:cNvSpPr/>
          <p:nvPr/>
        </p:nvSpPr>
        <p:spPr>
          <a:xfrm>
            <a:off x="3350106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8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61"/>
          <p:cNvSpPr/>
          <p:nvPr/>
        </p:nvSpPr>
        <p:spPr>
          <a:xfrm>
            <a:off x="262506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61"/>
          <p:cNvSpPr txBox="1">
            <a:spLocks noGrp="1"/>
          </p:cNvSpPr>
          <p:nvPr>
            <p:ph type="title"/>
          </p:nvPr>
        </p:nvSpPr>
        <p:spPr>
          <a:xfrm>
            <a:off x="262500" y="603252"/>
            <a:ext cx="8791348" cy="713700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tr-TR" dirty="0"/>
              <a:t>Kalori alımı, protein/karbonhidrat/yağ dengesi ve günlük adım sayısı optimize edilerek kilo kaybı süreci daha stabil ve sürdürülebilir hale getirilebilir.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>
          <a:extLst>
            <a:ext uri="{FF2B5EF4-FFF2-40B4-BE49-F238E27FC236}">
              <a16:creationId xmlns:a16="http://schemas.microsoft.com/office/drawing/2014/main" id="{90E27D22-6FB0-AF61-F231-8365601D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1">
            <a:extLst>
              <a:ext uri="{FF2B5EF4-FFF2-40B4-BE49-F238E27FC236}">
                <a16:creationId xmlns:a16="http://schemas.microsoft.com/office/drawing/2014/main" id="{E36C106B-3693-3D69-4C44-F4F199B903BE}"/>
              </a:ext>
            </a:extLst>
          </p:cNvPr>
          <p:cNvSpPr/>
          <p:nvPr/>
        </p:nvSpPr>
        <p:spPr>
          <a:xfrm>
            <a:off x="3055600" y="1748075"/>
            <a:ext cx="3045300" cy="34086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61">
            <a:extLst>
              <a:ext uri="{FF2B5EF4-FFF2-40B4-BE49-F238E27FC236}">
                <a16:creationId xmlns:a16="http://schemas.microsoft.com/office/drawing/2014/main" id="{A776FAF5-A289-B824-5BDA-9900072F518F}"/>
              </a:ext>
            </a:extLst>
          </p:cNvPr>
          <p:cNvSpPr/>
          <p:nvPr/>
        </p:nvSpPr>
        <p:spPr>
          <a:xfrm rot="10800000">
            <a:off x="-7575" y="1746875"/>
            <a:ext cx="3070200" cy="341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61">
            <a:extLst>
              <a:ext uri="{FF2B5EF4-FFF2-40B4-BE49-F238E27FC236}">
                <a16:creationId xmlns:a16="http://schemas.microsoft.com/office/drawing/2014/main" id="{1F57D60E-0D59-AF19-A0A2-C98A03BA3F6E}"/>
              </a:ext>
            </a:extLst>
          </p:cNvPr>
          <p:cNvSpPr/>
          <p:nvPr/>
        </p:nvSpPr>
        <p:spPr>
          <a:xfrm rot="10800000">
            <a:off x="6088425" y="1746875"/>
            <a:ext cx="3070200" cy="3411000"/>
          </a:xfrm>
          <a:prstGeom prst="rect">
            <a:avLst/>
          </a:prstGeom>
          <a:solidFill>
            <a:srgbClr val="FFF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61">
            <a:extLst>
              <a:ext uri="{FF2B5EF4-FFF2-40B4-BE49-F238E27FC236}">
                <a16:creationId xmlns:a16="http://schemas.microsoft.com/office/drawing/2014/main" id="{FCFB61D2-97A7-2E94-F802-F637B42149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8350" y="2500353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dirty="0"/>
              <a:t>Su Tüketimi </a:t>
            </a:r>
            <a:r>
              <a:rPr lang="en" dirty="0"/>
              <a:t>Kontrolü</a:t>
            </a:r>
            <a:endParaRPr dirty="0"/>
          </a:p>
        </p:txBody>
      </p:sp>
      <p:sp>
        <p:nvSpPr>
          <p:cNvPr id="480" name="Google Shape;480;p61">
            <a:extLst>
              <a:ext uri="{FF2B5EF4-FFF2-40B4-BE49-F238E27FC236}">
                <a16:creationId xmlns:a16="http://schemas.microsoft.com/office/drawing/2014/main" id="{496A83A1-C5E5-65B3-8452-AC9C3C9EB53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53701" y="2420629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dirty="0"/>
              <a:t>Gece Yemeği Alışkanlığının Dengesi</a:t>
            </a:r>
            <a:endParaRPr dirty="0"/>
          </a:p>
        </p:txBody>
      </p:sp>
      <p:sp>
        <p:nvSpPr>
          <p:cNvPr id="481" name="Google Shape;481;p61">
            <a:extLst>
              <a:ext uri="{FF2B5EF4-FFF2-40B4-BE49-F238E27FC236}">
                <a16:creationId xmlns:a16="http://schemas.microsoft.com/office/drawing/2014/main" id="{9F081B1F-732F-2B37-1B9D-90AEF9BE993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408300" y="2446937"/>
            <a:ext cx="2451300" cy="61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/>
            <a:r>
              <a:rPr lang="tr-TR" dirty="0"/>
              <a:t>Uyku Süresi Kontrolü</a:t>
            </a:r>
            <a:endParaRPr dirty="0"/>
          </a:p>
        </p:txBody>
      </p:sp>
      <p:sp>
        <p:nvSpPr>
          <p:cNvPr id="482" name="Google Shape;482;p61">
            <a:extLst>
              <a:ext uri="{FF2B5EF4-FFF2-40B4-BE49-F238E27FC236}">
                <a16:creationId xmlns:a16="http://schemas.microsoft.com/office/drawing/2014/main" id="{EDD5C9A4-19FA-A8E9-AD60-96CE4806A3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83" name="Google Shape;483;p61">
            <a:extLst>
              <a:ext uri="{FF2B5EF4-FFF2-40B4-BE49-F238E27FC236}">
                <a16:creationId xmlns:a16="http://schemas.microsoft.com/office/drawing/2014/main" id="{EFC62B75-2E9D-DBDE-9291-17DF54CB3847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262506" y="2990423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tr-TR" sz="1600" dirty="0"/>
              <a:t>Günlük su tüketimi 2.8–3.3 L aralığında optimize edilmeli, böylece metabolik fonksiyonlar ve toparlanma süreci daha stabil hale getirilmeli.</a:t>
            </a:r>
            <a:endParaRPr sz="1600" dirty="0"/>
          </a:p>
        </p:txBody>
      </p:sp>
      <p:sp>
        <p:nvSpPr>
          <p:cNvPr id="484" name="Google Shape;484;p61">
            <a:extLst>
              <a:ext uri="{FF2B5EF4-FFF2-40B4-BE49-F238E27FC236}">
                <a16:creationId xmlns:a16="http://schemas.microsoft.com/office/drawing/2014/main" id="{12AC5A80-68D5-CD3C-D5DA-E3DA6C54A417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331488" y="2977771"/>
            <a:ext cx="2450700" cy="1909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tr-TR" sz="1600" dirty="0"/>
              <a:t>Gece yemeği alışkanlığı ortadan kaldırılmalı (0 olmalı), böylece sindirim yükü azaltılmalı ve gece toparlanma süreci iyileştirilmeli.</a:t>
            </a:r>
            <a:b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p61">
            <a:extLst>
              <a:ext uri="{FF2B5EF4-FFF2-40B4-BE49-F238E27FC236}">
                <a16:creationId xmlns:a16="http://schemas.microsoft.com/office/drawing/2014/main" id="{C11CB69E-0495-4772-C51A-C044C877FC2B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6384324" y="2810253"/>
            <a:ext cx="2450700" cy="2181723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tr-TR" sz="1600" dirty="0"/>
              <a:t>Uyku süresi 7.2–8.0 saat aralığında stabilize edilmeli, böylece </a:t>
            </a:r>
            <a:r>
              <a:rPr lang="tr-TR" sz="1600" dirty="0" err="1"/>
              <a:t>hormonal</a:t>
            </a:r>
            <a:r>
              <a:rPr lang="tr-TR" sz="1600" dirty="0"/>
              <a:t> denge ve toparlanma kapasitesi daha sürdürülebilir hale getirilmeli.</a:t>
            </a:r>
            <a:b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6" name="Google Shape;486;p61">
            <a:extLst>
              <a:ext uri="{FF2B5EF4-FFF2-40B4-BE49-F238E27FC236}">
                <a16:creationId xmlns:a16="http://schemas.microsoft.com/office/drawing/2014/main" id="{FDDD2342-AA15-29C4-DA2B-F5EC58357148}"/>
              </a:ext>
            </a:extLst>
          </p:cNvPr>
          <p:cNvSpPr/>
          <p:nvPr/>
        </p:nvSpPr>
        <p:spPr>
          <a:xfrm>
            <a:off x="6369778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61">
            <a:extLst>
              <a:ext uri="{FF2B5EF4-FFF2-40B4-BE49-F238E27FC236}">
                <a16:creationId xmlns:a16="http://schemas.microsoft.com/office/drawing/2014/main" id="{3DDD63A9-97AF-9F84-084E-351E22498131}"/>
              </a:ext>
            </a:extLst>
          </p:cNvPr>
          <p:cNvSpPr/>
          <p:nvPr/>
        </p:nvSpPr>
        <p:spPr>
          <a:xfrm>
            <a:off x="3350106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8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61">
            <a:extLst>
              <a:ext uri="{FF2B5EF4-FFF2-40B4-BE49-F238E27FC236}">
                <a16:creationId xmlns:a16="http://schemas.microsoft.com/office/drawing/2014/main" id="{97AAF7B0-15C8-5CD0-96D0-E7D12D7935E8}"/>
              </a:ext>
            </a:extLst>
          </p:cNvPr>
          <p:cNvSpPr/>
          <p:nvPr/>
        </p:nvSpPr>
        <p:spPr>
          <a:xfrm>
            <a:off x="262506" y="2090248"/>
            <a:ext cx="243000" cy="243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61">
            <a:extLst>
              <a:ext uri="{FF2B5EF4-FFF2-40B4-BE49-F238E27FC236}">
                <a16:creationId xmlns:a16="http://schemas.microsoft.com/office/drawing/2014/main" id="{5A6AF70B-2FF3-4596-DB29-36674433EB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506" y="252847"/>
            <a:ext cx="8688317" cy="1212212"/>
          </a:xfrm>
          <a:prstGeom prst="rect">
            <a:avLst/>
          </a:prstGeom>
        </p:spPr>
        <p:txBody>
          <a:bodyPr spcFirstLastPara="1" wrap="square" lIns="0" tIns="91425" rIns="0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tr-TR" dirty="0"/>
              <a:t>Su tüketimi, gece yemeği düzeni ve uyku süresi optimize edilerek metabolik denge ve toparlanma süreci daha stabil ve sürdürülebilir hale getirilebilir.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52923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Yellow">
  <a:themeElements>
    <a:clrScheme name="Simple Light">
      <a:dk1>
        <a:srgbClr val="202124"/>
      </a:dk1>
      <a:lt1>
        <a:srgbClr val="FDFDFD"/>
      </a:lt1>
      <a:dk2>
        <a:srgbClr val="F2F2F2"/>
      </a:dk2>
      <a:lt2>
        <a:srgbClr val="999999"/>
      </a:lt2>
      <a:accent1>
        <a:srgbClr val="F9F933"/>
      </a:accent1>
      <a:accent2>
        <a:srgbClr val="FBFB74"/>
      </a:accent2>
      <a:accent3>
        <a:srgbClr val="FDFDC4"/>
      </a:accent3>
      <a:accent4>
        <a:srgbClr val="EDED07"/>
      </a:accent4>
      <a:accent5>
        <a:srgbClr val="DBDAD7"/>
      </a:accent5>
      <a:accent6>
        <a:srgbClr val="5A5959"/>
      </a:accent6>
      <a:hlink>
        <a:srgbClr val="2021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337</Words>
  <Application>Microsoft Office PowerPoint</Application>
  <PresentationFormat>Ekran Gösterisi (16:9)</PresentationFormat>
  <Paragraphs>49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7</vt:i4>
      </vt:variant>
    </vt:vector>
  </HeadingPairs>
  <TitlesOfParts>
    <vt:vector size="15" baseType="lpstr">
      <vt:lpstr>Arial</vt:lpstr>
      <vt:lpstr>Inter Light</vt:lpstr>
      <vt:lpstr>Inter SemiBold</vt:lpstr>
      <vt:lpstr>Inter Medium</vt:lpstr>
      <vt:lpstr>Inter</vt:lpstr>
      <vt:lpstr>Inter Black</vt:lpstr>
      <vt:lpstr>Simple Light</vt:lpstr>
      <vt:lpstr>Yellow</vt:lpstr>
      <vt:lpstr>Veri Analitiği ile Beslenme ve Yaşam Tarzı Analizi</vt:lpstr>
      <vt:lpstr>İçerik Sıralaması</vt:lpstr>
      <vt:lpstr>20 Günlük Süreçte Stabil Kilo Kaybı (-1.9 kg)</vt:lpstr>
      <vt:lpstr>Kilo Kaybı ile Yaşam Tarzı Değişimleri Arasındaki İlişki</vt:lpstr>
      <vt:lpstr>Kilo Değişiminin Olası Nedenleri</vt:lpstr>
      <vt:lpstr>Kalori alımı, protein/karbonhidrat/yağ dengesi ve günlük adım sayısı optimize edilerek kilo kaybı süreci daha stabil ve sürdürülebilir hale getirilebilir.</vt:lpstr>
      <vt:lpstr>Su tüketimi, gece yemeği düzeni ve uyku süresi optimize edilerek metabolik denge ve toparlanma süreci daha stabil ve sürdürülebilir hale getirilebilir.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filiz eroğlu</cp:lastModifiedBy>
  <cp:revision>2</cp:revision>
  <dcterms:modified xsi:type="dcterms:W3CDTF">2026-05-10T06:52:38Z</dcterms:modified>
</cp:coreProperties>
</file>